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ydral/AI-Image-Denoiser" TargetMode="External"/><Relationship Id="rId3" Type="http://schemas.openxmlformats.org/officeDocument/2006/relationships/hyperlink" Target="https://www.kaggle.com/datasets/bhavikjikadara/dog-and-cat-classification-dataset" TargetMode="External"/><Relationship Id="rId7" Type="http://schemas.openxmlformats.org/officeDocument/2006/relationships/hyperlink" Target="https://raver119.medium.com/denoising-images-with-deep-learning-9124d36fda0a" TargetMode="External"/><Relationship Id="rId2" Type="http://schemas.openxmlformats.org/officeDocument/2006/relationships/hyperlink" Target="https://www.kaggle.com/datasets/moltean/fruits/d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code/davidesavarro/image-denoiser" TargetMode="External"/><Relationship Id="rId11" Type="http://schemas.openxmlformats.org/officeDocument/2006/relationships/hyperlink" Target="https://www.kaggle.com/code/andreipaulavets/byu-denoising-cryo-et-with-noise2void" TargetMode="External"/><Relationship Id="rId5" Type="http://schemas.openxmlformats.org/officeDocument/2006/relationships/hyperlink" Target="https://www.kaggle.com/code/ahmedelsayedtaha/denoising-images-using-autoencoder" TargetMode="External"/><Relationship Id="rId10" Type="http://schemas.openxmlformats.org/officeDocument/2006/relationships/hyperlink" Target="https://github.com/SecretMG/UNet-for-Image-Denoising" TargetMode="External"/><Relationship Id="rId4" Type="http://schemas.openxmlformats.org/officeDocument/2006/relationships/hyperlink" Target="https://www.kaggle.com/datasets/muhammadrehan00/chest-xray-dataset" TargetMode="External"/><Relationship Id="rId9" Type="http://schemas.openxmlformats.org/officeDocument/2006/relationships/hyperlink" Target="https://blogs.nvidia.com/blog/what-is-denoising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nshulmehtakaggl/wildlife-animals-images" TargetMode="External"/><Relationship Id="rId7" Type="http://schemas.openxmlformats.org/officeDocument/2006/relationships/hyperlink" Target="https://apxml.com/courses/practical-llm-quantization/chapter-2-post-training-quantization-ptq/static-dynamic-quantization" TargetMode="External"/><Relationship Id="rId2" Type="http://schemas.openxmlformats.org/officeDocument/2006/relationships/hyperlink" Target="https://www.kaggle.com/datasets/alessiocorrado99/animals1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bm.com/think/topics/quantization-aware-training" TargetMode="External"/><Relationship Id="rId5" Type="http://schemas.openxmlformats.org/officeDocument/2006/relationships/hyperlink" Target="https://selek.tech/posts/static-vs-dynamic-quantization-in-machine-learning/" TargetMode="External"/><Relationship Id="rId4" Type="http://schemas.openxmlformats.org/officeDocument/2006/relationships/hyperlink" Target="https://www.kaggle.com/code/ashusma/understanding-tf-lite-and-model-optimiz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6217E3-1665-3CB0-85E7-F9ED48A8AA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Presentation of </a:t>
            </a:r>
            <a:r>
              <a:rPr lang="pl-PL" dirty="0" err="1"/>
              <a:t>chosen</a:t>
            </a:r>
            <a:r>
              <a:rPr lang="pl-PL" dirty="0"/>
              <a:t> </a:t>
            </a:r>
            <a:r>
              <a:rPr lang="pl-PL" dirty="0" err="1"/>
              <a:t>topics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C52FBA6-5529-94D0-5782-FE362F8E59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Author: Jakub Jabłoński</a:t>
            </a:r>
          </a:p>
        </p:txBody>
      </p:sp>
    </p:spTree>
    <p:extLst>
      <p:ext uri="{BB962C8B-B14F-4D97-AF65-F5344CB8AC3E}">
        <p14:creationId xmlns:p14="http://schemas.microsoft.com/office/powerpoint/2010/main" val="1090258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813356-8D39-6721-63FD-C011CB29F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1. Image </a:t>
            </a:r>
            <a:r>
              <a:rPr lang="pl-PL" dirty="0" err="1"/>
              <a:t>Denoiser</a:t>
            </a:r>
            <a:endParaRPr lang="pl-PL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0D792F3-9A86-56AB-145C-08D25EC3C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/>
              <a:t>Problem Statement &amp; </a:t>
            </a:r>
            <a:r>
              <a:rPr lang="pl-PL" b="1" dirty="0" err="1"/>
              <a:t>Motivation</a:t>
            </a:r>
            <a:endParaRPr lang="pl-PL" b="1" dirty="0"/>
          </a:p>
          <a:p>
            <a:r>
              <a:rPr lang="en-US" dirty="0"/>
              <a:t>My master’s thesis focuses on building a graphics engine that uses </a:t>
            </a:r>
            <a:r>
              <a:rPr lang="en-US" i="1" dirty="0"/>
              <a:t>Ray Tracing</a:t>
            </a:r>
            <a:r>
              <a:rPr lang="en-US" dirty="0"/>
              <a:t> and </a:t>
            </a:r>
            <a:r>
              <a:rPr lang="en-US" i="1" dirty="0"/>
              <a:t>Radiosity</a:t>
            </a:r>
            <a:r>
              <a:rPr lang="en-US" dirty="0"/>
              <a:t> algorithms. One of the key rendering techniques—Path Tracing—relies on the Monte Carlo method to approximate pixel colors. Since Monte Carlo sampling is </a:t>
            </a:r>
            <a:r>
              <a:rPr lang="pl-PL" dirty="0"/>
              <a:t>a</a:t>
            </a:r>
            <a:r>
              <a:rPr lang="en-US" dirty="0"/>
              <a:t> stochastic</a:t>
            </a:r>
            <a:r>
              <a:rPr lang="pl-PL" dirty="0"/>
              <a:t> </a:t>
            </a:r>
            <a:r>
              <a:rPr lang="pl-PL" dirty="0" err="1"/>
              <a:t>algorithm</a:t>
            </a:r>
            <a:r>
              <a:rPr lang="en-US" dirty="0"/>
              <a:t>, it often produces noisy images.</a:t>
            </a:r>
          </a:p>
          <a:p>
            <a:r>
              <a:rPr lang="en-US" dirty="0"/>
              <a:t>Reducing this noise requires casting more rays per pixel, which dramatically increases computational cost and rendering time. A promising alternative is to use </a:t>
            </a:r>
            <a:r>
              <a:rPr lang="en-US" b="1" dirty="0"/>
              <a:t>AI-based image denoising</a:t>
            </a:r>
            <a:r>
              <a:rPr lang="en-US" dirty="0"/>
              <a:t> to clean up noisy renders while preserving detail. This approach could significantly reduce rendering time and hardware requirements, making photorealistic rendering more accessible and efficient.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5" name="Picture 2" descr="denoising gif url">
            <a:extLst>
              <a:ext uri="{FF2B5EF4-FFF2-40B4-BE49-F238E27FC236}">
                <a16:creationId xmlns:a16="http://schemas.microsoft.com/office/drawing/2014/main" id="{E6C41D6A-7EFE-95B7-E692-170508B29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594" y="138373"/>
            <a:ext cx="3791018" cy="212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52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B32FE-DC40-D7AB-069C-50DF64356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40ABA2-8C0E-EA88-D7FB-E6DC140B8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1. Image </a:t>
            </a:r>
            <a:r>
              <a:rPr lang="pl-PL" dirty="0" err="1"/>
              <a:t>Denoiser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B8B930B-2791-1715-E296-0E1EFDFEB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b="1" dirty="0" err="1"/>
              <a:t>Baseline</a:t>
            </a:r>
            <a:r>
              <a:rPr lang="pl-PL" b="1" dirty="0"/>
              <a:t> plan</a:t>
            </a:r>
          </a:p>
          <a:p>
            <a:pPr marL="0" indent="0">
              <a:buNone/>
            </a:pPr>
            <a:r>
              <a:rPr lang="pl-PL" dirty="0"/>
              <a:t>I want to </a:t>
            </a:r>
            <a:r>
              <a:rPr lang="pl-PL" dirty="0" err="1"/>
              <a:t>use</a:t>
            </a:r>
            <a:r>
              <a:rPr lang="pl-PL" dirty="0"/>
              <a:t> the </a:t>
            </a:r>
            <a:r>
              <a:rPr lang="pl-PL" dirty="0" err="1"/>
              <a:t>some</a:t>
            </a:r>
            <a:r>
              <a:rPr lang="pl-PL" dirty="0"/>
              <a:t> image </a:t>
            </a:r>
            <a:r>
              <a:rPr lang="pl-PL" dirty="0" err="1"/>
              <a:t>dataset</a:t>
            </a:r>
            <a:r>
              <a:rPr lang="pl-PL" dirty="0"/>
              <a:t> (</a:t>
            </a:r>
            <a:r>
              <a:rPr lang="pl-PL" dirty="0" err="1"/>
              <a:t>Animal</a:t>
            </a:r>
            <a:r>
              <a:rPr lang="pl-PL" dirty="0"/>
              <a:t> </a:t>
            </a:r>
            <a:r>
              <a:rPr lang="pl-PL" dirty="0" err="1"/>
              <a:t>faces</a:t>
            </a:r>
            <a:r>
              <a:rPr lang="pl-PL" dirty="0"/>
              <a:t>, </a:t>
            </a:r>
            <a:r>
              <a:rPr lang="pl-PL" dirty="0" err="1"/>
              <a:t>chest</a:t>
            </a:r>
            <a:r>
              <a:rPr lang="pl-PL" dirty="0"/>
              <a:t> x-</a:t>
            </a:r>
            <a:r>
              <a:rPr lang="pl-PL" dirty="0" err="1"/>
              <a:t>ray</a:t>
            </a:r>
            <a:r>
              <a:rPr lang="pl-PL" dirty="0"/>
              <a:t>) . </a:t>
            </a:r>
            <a:r>
              <a:rPr lang="pl-PL" dirty="0" err="1"/>
              <a:t>Artificial</a:t>
            </a:r>
            <a:r>
              <a:rPr lang="pl-PL" dirty="0"/>
              <a:t> </a:t>
            </a:r>
            <a:r>
              <a:rPr lang="pl-PL" dirty="0" err="1"/>
              <a:t>noise</a:t>
            </a:r>
            <a:r>
              <a:rPr lang="pl-PL" dirty="0"/>
              <a:t> (</a:t>
            </a:r>
            <a:r>
              <a:rPr lang="pl-PL" dirty="0" err="1"/>
              <a:t>Gaussian</a:t>
            </a:r>
            <a:r>
              <a:rPr lang="pl-PL" dirty="0"/>
              <a:t>, salt and </a:t>
            </a:r>
            <a:r>
              <a:rPr lang="pl-PL" dirty="0" err="1"/>
              <a:t>pepper</a:t>
            </a:r>
            <a:r>
              <a:rPr lang="pl-PL" dirty="0"/>
              <a:t>) </a:t>
            </a:r>
            <a:r>
              <a:rPr lang="pl-PL" dirty="0" err="1"/>
              <a:t>will</a:t>
            </a:r>
            <a:r>
              <a:rPr lang="pl-PL" dirty="0"/>
              <a:t> be </a:t>
            </a:r>
            <a:r>
              <a:rPr lang="pl-PL" dirty="0" err="1"/>
              <a:t>added</a:t>
            </a:r>
            <a:r>
              <a:rPr lang="pl-PL" dirty="0"/>
              <a:t> to </a:t>
            </a:r>
            <a:r>
              <a:rPr lang="pl-PL" dirty="0" err="1"/>
              <a:t>generate</a:t>
            </a:r>
            <a:r>
              <a:rPr lang="pl-PL" dirty="0"/>
              <a:t> </a:t>
            </a:r>
            <a:r>
              <a:rPr lang="pl-PL" dirty="0" err="1"/>
              <a:t>training</a:t>
            </a:r>
            <a:r>
              <a:rPr lang="pl-PL" dirty="0"/>
              <a:t> </a:t>
            </a:r>
            <a:r>
              <a:rPr lang="pl-PL" dirty="0" err="1"/>
              <a:t>pairs</a:t>
            </a:r>
            <a:r>
              <a:rPr lang="pl-PL" dirty="0"/>
              <a:t>. </a:t>
            </a:r>
            <a:r>
              <a:rPr lang="pl-PL" dirty="0" err="1"/>
              <a:t>Still</a:t>
            </a:r>
            <a:r>
              <a:rPr lang="pl-PL" dirty="0"/>
              <a:t> not </a:t>
            </a:r>
            <a:r>
              <a:rPr lang="pl-PL" dirty="0" err="1"/>
              <a:t>sure</a:t>
            </a:r>
            <a:r>
              <a:rPr lang="pl-PL" dirty="0"/>
              <a:t> </a:t>
            </a:r>
            <a:r>
              <a:rPr lang="pl-PL" dirty="0" err="1"/>
              <a:t>if</a:t>
            </a:r>
            <a:r>
              <a:rPr lang="pl-PL" dirty="0"/>
              <a:t> I </a:t>
            </a:r>
            <a:r>
              <a:rPr lang="pl-PL" dirty="0" err="1"/>
              <a:t>will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only</a:t>
            </a:r>
            <a:r>
              <a:rPr lang="pl-PL" dirty="0"/>
              <a:t> </a:t>
            </a:r>
            <a:r>
              <a:rPr lang="pl-PL" dirty="0" err="1"/>
              <a:t>grey</a:t>
            </a:r>
            <a:r>
              <a:rPr lang="pl-PL" dirty="0"/>
              <a:t> </a:t>
            </a:r>
            <a:r>
              <a:rPr lang="pl-PL" dirty="0" err="1"/>
              <a:t>scale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not.</a:t>
            </a:r>
          </a:p>
          <a:p>
            <a:pPr marL="0" indent="0">
              <a:buNone/>
            </a:pPr>
            <a:r>
              <a:rPr lang="pl-PL" dirty="0"/>
              <a:t>I </a:t>
            </a:r>
            <a:r>
              <a:rPr lang="pl-PL" dirty="0" err="1"/>
              <a:t>will</a:t>
            </a:r>
            <a:r>
              <a:rPr lang="pl-PL" dirty="0"/>
              <a:t> </a:t>
            </a:r>
            <a:r>
              <a:rPr lang="pl-PL" dirty="0" err="1"/>
              <a:t>train</a:t>
            </a:r>
            <a:r>
              <a:rPr lang="pl-PL" dirty="0"/>
              <a:t> </a:t>
            </a:r>
            <a:r>
              <a:rPr lang="pl-PL" dirty="0" err="1"/>
              <a:t>models</a:t>
            </a:r>
            <a:r>
              <a:rPr lang="pl-PL" dirty="0"/>
              <a:t>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different</a:t>
            </a:r>
            <a:r>
              <a:rPr lang="pl-PL" dirty="0"/>
              <a:t> </a:t>
            </a:r>
            <a:r>
              <a:rPr lang="pl-PL" dirty="0" err="1"/>
              <a:t>method</a:t>
            </a:r>
            <a:r>
              <a:rPr lang="pl-PL" dirty="0"/>
              <a:t> and </a:t>
            </a:r>
            <a:r>
              <a:rPr lang="pl-PL" dirty="0" err="1"/>
              <a:t>training</a:t>
            </a:r>
            <a:r>
              <a:rPr lang="pl-PL" dirty="0"/>
              <a:t> </a:t>
            </a:r>
            <a:r>
              <a:rPr lang="pl-PL" dirty="0" err="1"/>
              <a:t>strategies</a:t>
            </a:r>
            <a:r>
              <a:rPr lang="pl-PL" dirty="0"/>
              <a:t> (</a:t>
            </a:r>
            <a:r>
              <a:rPr lang="pl-PL" dirty="0" err="1"/>
              <a:t>supervised</a:t>
            </a:r>
            <a:r>
              <a:rPr lang="pl-PL" dirty="0"/>
              <a:t>, </a:t>
            </a:r>
            <a:r>
              <a:rPr lang="pl-PL" dirty="0" err="1"/>
              <a:t>semi-supervised</a:t>
            </a:r>
            <a:r>
              <a:rPr lang="pl-PL" dirty="0"/>
              <a:t> and </a:t>
            </a:r>
            <a:r>
              <a:rPr lang="pl-PL" dirty="0" err="1"/>
              <a:t>self-supervised</a:t>
            </a:r>
            <a:r>
              <a:rPr lang="pl-PL" dirty="0"/>
              <a:t>) and </a:t>
            </a:r>
            <a:r>
              <a:rPr lang="pl-PL" dirty="0" err="1"/>
              <a:t>then</a:t>
            </a:r>
            <a:r>
              <a:rPr lang="pl-PL" dirty="0"/>
              <a:t> </a:t>
            </a:r>
            <a:r>
              <a:rPr lang="pl-PL" dirty="0" err="1"/>
              <a:t>compare</a:t>
            </a:r>
            <a:r>
              <a:rPr lang="pl-PL" dirty="0"/>
              <a:t> the </a:t>
            </a:r>
            <a:r>
              <a:rPr lang="pl-PL" dirty="0" err="1"/>
              <a:t>resulted</a:t>
            </a:r>
            <a:r>
              <a:rPr lang="pl-PL" dirty="0"/>
              <a:t> </a:t>
            </a:r>
            <a:r>
              <a:rPr lang="pl-PL" dirty="0" err="1"/>
              <a:t>images</a:t>
            </a:r>
            <a:r>
              <a:rPr lang="pl-PL" dirty="0"/>
              <a:t>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both</a:t>
            </a:r>
            <a:r>
              <a:rPr lang="pl-PL" dirty="0"/>
              <a:t> </a:t>
            </a:r>
            <a:r>
              <a:rPr lang="pl-PL" dirty="0" err="1"/>
              <a:t>visually</a:t>
            </a:r>
            <a:r>
              <a:rPr lang="pl-PL" dirty="0"/>
              <a:t> and </a:t>
            </a:r>
            <a:r>
              <a:rPr lang="pl-PL" dirty="0" err="1"/>
              <a:t>metrics</a:t>
            </a:r>
            <a:r>
              <a:rPr lang="pl-PL" dirty="0"/>
              <a:t>.</a:t>
            </a:r>
          </a:p>
          <a:p>
            <a:pPr marL="0" indent="0">
              <a:buNone/>
            </a:pPr>
            <a:r>
              <a:rPr lang="pl-PL" b="1" dirty="0" err="1"/>
              <a:t>Metrics</a:t>
            </a:r>
            <a:r>
              <a:rPr lang="pl-PL" dirty="0"/>
              <a:t> (I </a:t>
            </a:r>
            <a:r>
              <a:rPr lang="pl-PL" dirty="0" err="1"/>
              <a:t>will</a:t>
            </a:r>
            <a:r>
              <a:rPr lang="pl-PL" dirty="0"/>
              <a:t> most </a:t>
            </a:r>
            <a:r>
              <a:rPr lang="pl-PL" dirty="0" err="1"/>
              <a:t>likely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):</a:t>
            </a:r>
          </a:p>
          <a:p>
            <a:r>
              <a:rPr lang="pl-PL" dirty="0"/>
              <a:t>PSNR (</a:t>
            </a:r>
            <a:r>
              <a:rPr lang="pl-PL" dirty="0" err="1"/>
              <a:t>Peak</a:t>
            </a:r>
            <a:r>
              <a:rPr lang="pl-PL" dirty="0"/>
              <a:t> </a:t>
            </a:r>
            <a:r>
              <a:rPr lang="pl-PL" dirty="0" err="1"/>
              <a:t>Signal</a:t>
            </a:r>
            <a:r>
              <a:rPr lang="pl-PL" dirty="0"/>
              <a:t>-to-</a:t>
            </a:r>
            <a:r>
              <a:rPr lang="pl-PL" dirty="0" err="1"/>
              <a:t>Noise</a:t>
            </a:r>
            <a:r>
              <a:rPr lang="pl-PL" dirty="0"/>
              <a:t> Ratio) – How much </a:t>
            </a:r>
            <a:r>
              <a:rPr lang="pl-PL" dirty="0" err="1"/>
              <a:t>noise</a:t>
            </a:r>
            <a:r>
              <a:rPr lang="pl-PL" dirty="0"/>
              <a:t> </a:t>
            </a:r>
            <a:r>
              <a:rPr lang="pl-PL" dirty="0" err="1"/>
              <a:t>remains</a:t>
            </a:r>
            <a:r>
              <a:rPr lang="pl-PL" dirty="0"/>
              <a:t> in the image</a:t>
            </a:r>
          </a:p>
          <a:p>
            <a:r>
              <a:rPr lang="pl-PL" dirty="0"/>
              <a:t>MSE (</a:t>
            </a:r>
            <a:r>
              <a:rPr lang="pl-PL" dirty="0" err="1"/>
              <a:t>Mean</a:t>
            </a:r>
            <a:r>
              <a:rPr lang="pl-PL" dirty="0"/>
              <a:t> </a:t>
            </a:r>
            <a:r>
              <a:rPr lang="pl-PL" dirty="0" err="1"/>
              <a:t>Squared</a:t>
            </a:r>
            <a:r>
              <a:rPr lang="pl-PL" dirty="0"/>
              <a:t> Error) – </a:t>
            </a:r>
            <a:r>
              <a:rPr lang="pl-PL" dirty="0" err="1"/>
              <a:t>Average</a:t>
            </a:r>
            <a:r>
              <a:rPr lang="pl-PL" dirty="0"/>
              <a:t> </a:t>
            </a:r>
            <a:r>
              <a:rPr lang="pl-PL" dirty="0" err="1"/>
              <a:t>difference</a:t>
            </a:r>
            <a:r>
              <a:rPr lang="pl-PL" dirty="0"/>
              <a:t> </a:t>
            </a:r>
            <a:r>
              <a:rPr lang="pl-PL" dirty="0" err="1"/>
              <a:t>between</a:t>
            </a:r>
            <a:r>
              <a:rPr lang="pl-PL" dirty="0"/>
              <a:t> </a:t>
            </a:r>
            <a:r>
              <a:rPr lang="pl-PL" dirty="0" err="1"/>
              <a:t>predicted</a:t>
            </a:r>
            <a:r>
              <a:rPr lang="pl-PL" dirty="0"/>
              <a:t> nad </a:t>
            </a:r>
            <a:r>
              <a:rPr lang="pl-PL" dirty="0" err="1"/>
              <a:t>true</a:t>
            </a:r>
            <a:r>
              <a:rPr lang="pl-PL" dirty="0"/>
              <a:t> </a:t>
            </a:r>
            <a:r>
              <a:rPr lang="pl-PL" dirty="0" err="1"/>
              <a:t>pixel</a:t>
            </a:r>
            <a:r>
              <a:rPr lang="pl-PL" dirty="0"/>
              <a:t> </a:t>
            </a:r>
            <a:r>
              <a:rPr lang="pl-PL" dirty="0" err="1"/>
              <a:t>values</a:t>
            </a:r>
            <a:r>
              <a:rPr lang="pl-PL" dirty="0"/>
              <a:t> (?)</a:t>
            </a:r>
          </a:p>
          <a:p>
            <a:r>
              <a:rPr lang="pl-PL" dirty="0"/>
              <a:t>SSIM (</a:t>
            </a:r>
            <a:r>
              <a:rPr lang="pl-PL" dirty="0" err="1"/>
              <a:t>Structural</a:t>
            </a:r>
            <a:r>
              <a:rPr lang="pl-PL" dirty="0"/>
              <a:t> </a:t>
            </a:r>
            <a:r>
              <a:rPr lang="pl-PL" dirty="0" err="1"/>
              <a:t>Similarity</a:t>
            </a:r>
            <a:r>
              <a:rPr lang="pl-PL" dirty="0"/>
              <a:t> Index) – </a:t>
            </a:r>
            <a:r>
              <a:rPr lang="pl-PL" dirty="0" err="1"/>
              <a:t>Measure</a:t>
            </a:r>
            <a:r>
              <a:rPr lang="pl-PL" dirty="0"/>
              <a:t> the </a:t>
            </a:r>
            <a:r>
              <a:rPr lang="pl-PL" dirty="0" err="1"/>
              <a:t>quality</a:t>
            </a:r>
            <a:r>
              <a:rPr lang="pl-PL" dirty="0"/>
              <a:t> of </a:t>
            </a:r>
            <a:r>
              <a:rPr lang="pl-PL" dirty="0" err="1"/>
              <a:t>an</a:t>
            </a:r>
            <a:r>
              <a:rPr lang="pl-PL" dirty="0"/>
              <a:t> image by </a:t>
            </a:r>
            <a:r>
              <a:rPr lang="pl-PL" dirty="0" err="1"/>
              <a:t>comparing</a:t>
            </a:r>
            <a:r>
              <a:rPr lang="pl-PL" dirty="0"/>
              <a:t> </a:t>
            </a:r>
            <a:r>
              <a:rPr lang="pl-PL" dirty="0" err="1"/>
              <a:t>it</a:t>
            </a:r>
            <a:r>
              <a:rPr lang="pl-PL" dirty="0"/>
              <a:t> to </a:t>
            </a:r>
            <a:r>
              <a:rPr lang="pl-PL" dirty="0" err="1"/>
              <a:t>reference</a:t>
            </a:r>
            <a:r>
              <a:rPr lang="pl-PL" dirty="0"/>
              <a:t> image, based on </a:t>
            </a:r>
            <a:r>
              <a:rPr lang="pl-PL" dirty="0" err="1"/>
              <a:t>human</a:t>
            </a:r>
            <a:r>
              <a:rPr lang="pl-PL" dirty="0"/>
              <a:t> </a:t>
            </a:r>
            <a:r>
              <a:rPr lang="pl-PL" dirty="0" err="1"/>
              <a:t>visual</a:t>
            </a:r>
            <a:r>
              <a:rPr lang="pl-PL" dirty="0"/>
              <a:t> </a:t>
            </a:r>
            <a:r>
              <a:rPr lang="pl-PL" dirty="0" err="1"/>
              <a:t>similarity</a:t>
            </a:r>
            <a:r>
              <a:rPr lang="pl-PL" dirty="0"/>
              <a:t> (</a:t>
            </a:r>
            <a:r>
              <a:rPr lang="pl-PL" dirty="0" err="1"/>
              <a:t>luminance</a:t>
            </a:r>
            <a:r>
              <a:rPr lang="pl-PL" dirty="0"/>
              <a:t>, </a:t>
            </a:r>
            <a:r>
              <a:rPr lang="pl-PL" dirty="0" err="1"/>
              <a:t>contrast</a:t>
            </a:r>
            <a:r>
              <a:rPr lang="pl-PL" dirty="0"/>
              <a:t>, </a:t>
            </a:r>
            <a:r>
              <a:rPr lang="pl-PL" dirty="0" err="1"/>
              <a:t>structure</a:t>
            </a:r>
            <a:r>
              <a:rPr lang="pl-P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37058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D3E8-6767-42D5-E075-47D4C7331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1AEE3C-EC60-9102-98D4-A23FEFD0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1. Image </a:t>
            </a:r>
            <a:r>
              <a:rPr lang="pl-PL" dirty="0" err="1"/>
              <a:t>Denoiser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07B36E-F195-D5E4-63D0-7C4CED65A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5057041" cy="43307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Key terms, models, methods, and algorithms</a:t>
            </a:r>
            <a:endParaRPr lang="pl-PL" b="1" dirty="0"/>
          </a:p>
          <a:p>
            <a:r>
              <a:rPr lang="pl-PL" b="1" dirty="0"/>
              <a:t>CNN</a:t>
            </a:r>
          </a:p>
          <a:p>
            <a:r>
              <a:rPr lang="pl-PL" b="1" dirty="0" err="1"/>
              <a:t>Autoencoder</a:t>
            </a:r>
            <a:r>
              <a:rPr lang="pl-PL" dirty="0" err="1"/>
              <a:t>s</a:t>
            </a:r>
            <a:r>
              <a:rPr lang="pl-PL" dirty="0"/>
              <a:t> – </a:t>
            </a:r>
            <a:r>
              <a:rPr lang="pl-PL" dirty="0" err="1"/>
              <a:t>Can</a:t>
            </a:r>
            <a:r>
              <a:rPr lang="pl-PL" dirty="0"/>
              <a:t> be </a:t>
            </a:r>
            <a:r>
              <a:rPr lang="pl-PL" dirty="0" err="1"/>
              <a:t>trained</a:t>
            </a:r>
            <a:r>
              <a:rPr lang="pl-PL" dirty="0"/>
              <a:t>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pairs</a:t>
            </a:r>
            <a:r>
              <a:rPr lang="pl-PL" dirty="0"/>
              <a:t> of </a:t>
            </a:r>
            <a:r>
              <a:rPr lang="pl-PL" dirty="0" err="1"/>
              <a:t>original</a:t>
            </a:r>
            <a:r>
              <a:rPr lang="pl-PL" dirty="0"/>
              <a:t> and </a:t>
            </a:r>
            <a:r>
              <a:rPr lang="pl-PL" dirty="0" err="1"/>
              <a:t>noisy</a:t>
            </a:r>
            <a:r>
              <a:rPr lang="pl-PL" dirty="0"/>
              <a:t> </a:t>
            </a:r>
            <a:r>
              <a:rPr lang="pl-PL" dirty="0" err="1"/>
              <a:t>images</a:t>
            </a:r>
            <a:endParaRPr lang="pl-PL" dirty="0"/>
          </a:p>
          <a:p>
            <a:r>
              <a:rPr lang="pl-PL" b="1" dirty="0"/>
              <a:t>U-net</a:t>
            </a:r>
            <a:r>
              <a:rPr lang="pl-PL" dirty="0"/>
              <a:t> – Encoder-</a:t>
            </a:r>
            <a:r>
              <a:rPr lang="pl-PL" dirty="0" err="1"/>
              <a:t>Decoder</a:t>
            </a:r>
            <a:r>
              <a:rPr lang="pl-PL" dirty="0"/>
              <a:t> with skip </a:t>
            </a:r>
            <a:r>
              <a:rPr lang="pl-PL" dirty="0" err="1"/>
              <a:t>connections</a:t>
            </a:r>
            <a:r>
              <a:rPr lang="pl-PL" dirty="0"/>
              <a:t>. </a:t>
            </a:r>
            <a:r>
              <a:rPr lang="pl-PL" dirty="0" err="1"/>
              <a:t>Combines</a:t>
            </a:r>
            <a:r>
              <a:rPr lang="pl-PL" dirty="0"/>
              <a:t> </a:t>
            </a:r>
            <a:r>
              <a:rPr lang="pl-PL" dirty="0" err="1"/>
              <a:t>information</a:t>
            </a:r>
            <a:r>
              <a:rPr lang="pl-PL" dirty="0"/>
              <a:t> from the </a:t>
            </a:r>
            <a:r>
              <a:rPr lang="pl-PL" dirty="0" err="1"/>
              <a:t>encoder</a:t>
            </a:r>
            <a:r>
              <a:rPr lang="pl-PL" dirty="0"/>
              <a:t> </a:t>
            </a:r>
            <a:r>
              <a:rPr lang="pl-PL" dirty="0" err="1"/>
              <a:t>during</a:t>
            </a:r>
            <a:r>
              <a:rPr lang="pl-PL" dirty="0"/>
              <a:t> </a:t>
            </a:r>
            <a:r>
              <a:rPr lang="pl-PL" dirty="0" err="1"/>
              <a:t>expansive</a:t>
            </a:r>
            <a:r>
              <a:rPr lang="pl-PL" dirty="0"/>
              <a:t> </a:t>
            </a:r>
            <a:r>
              <a:rPr lang="pl-PL" dirty="0" err="1"/>
              <a:t>path</a:t>
            </a:r>
            <a:r>
              <a:rPr lang="pl-PL" dirty="0"/>
              <a:t> (</a:t>
            </a:r>
            <a:r>
              <a:rPr lang="pl-PL" dirty="0" err="1"/>
              <a:t>Decoder</a:t>
            </a:r>
            <a:r>
              <a:rPr lang="pl-PL" dirty="0"/>
              <a:t>). It </a:t>
            </a:r>
            <a:r>
              <a:rPr lang="pl-PL" dirty="0" err="1"/>
              <a:t>helps</a:t>
            </a:r>
            <a:r>
              <a:rPr lang="pl-PL" dirty="0"/>
              <a:t> with </a:t>
            </a:r>
            <a:r>
              <a:rPr lang="pl-PL" dirty="0" err="1"/>
              <a:t>reducing</a:t>
            </a:r>
            <a:r>
              <a:rPr lang="pl-PL" dirty="0"/>
              <a:t> </a:t>
            </a:r>
            <a:r>
              <a:rPr lang="pl-PL" dirty="0" err="1"/>
              <a:t>lost</a:t>
            </a:r>
            <a:r>
              <a:rPr lang="pl-PL" dirty="0"/>
              <a:t> data </a:t>
            </a:r>
            <a:r>
              <a:rPr lang="pl-PL" dirty="0" err="1"/>
              <a:t>while</a:t>
            </a:r>
            <a:r>
              <a:rPr lang="pl-PL" dirty="0"/>
              <a:t> image </a:t>
            </a:r>
            <a:r>
              <a:rPr lang="pl-PL" dirty="0" err="1"/>
              <a:t>shrinking</a:t>
            </a:r>
            <a:endParaRPr lang="pl-PL" dirty="0"/>
          </a:p>
          <a:p>
            <a:r>
              <a:rPr lang="pl-PL" b="1" dirty="0"/>
              <a:t>Noise2Noise</a:t>
            </a:r>
            <a:r>
              <a:rPr lang="pl-PL" dirty="0"/>
              <a:t> – </a:t>
            </a:r>
            <a:r>
              <a:rPr lang="pl-PL" dirty="0" err="1"/>
              <a:t>Learns</a:t>
            </a:r>
            <a:r>
              <a:rPr lang="pl-PL" dirty="0"/>
              <a:t> to </a:t>
            </a:r>
            <a:r>
              <a:rPr lang="pl-PL" dirty="0" err="1"/>
              <a:t>denoise</a:t>
            </a:r>
            <a:r>
              <a:rPr lang="pl-PL" dirty="0"/>
              <a:t>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pairs</a:t>
            </a:r>
            <a:r>
              <a:rPr lang="pl-PL" dirty="0"/>
              <a:t> of </a:t>
            </a:r>
            <a:r>
              <a:rPr lang="pl-PL" dirty="0" err="1"/>
              <a:t>only</a:t>
            </a:r>
            <a:r>
              <a:rPr lang="pl-PL" dirty="0"/>
              <a:t> </a:t>
            </a:r>
            <a:r>
              <a:rPr lang="pl-PL" dirty="0" err="1"/>
              <a:t>noisy</a:t>
            </a:r>
            <a:r>
              <a:rPr lang="pl-PL" dirty="0"/>
              <a:t> </a:t>
            </a:r>
            <a:r>
              <a:rPr lang="pl-PL" dirty="0" err="1"/>
              <a:t>images</a:t>
            </a:r>
            <a:r>
              <a:rPr lang="pl-PL" dirty="0"/>
              <a:t>. </a:t>
            </a:r>
          </a:p>
          <a:p>
            <a:r>
              <a:rPr lang="pl-PL" b="1" dirty="0"/>
              <a:t>Noise2Void – </a:t>
            </a:r>
            <a:r>
              <a:rPr lang="pl-PL" dirty="0"/>
              <a:t>It </a:t>
            </a:r>
            <a:r>
              <a:rPr lang="pl-PL" dirty="0" err="1"/>
              <a:t>works</a:t>
            </a:r>
            <a:r>
              <a:rPr lang="pl-PL" dirty="0"/>
              <a:t> with a single </a:t>
            </a:r>
            <a:r>
              <a:rPr lang="pl-PL" dirty="0" err="1"/>
              <a:t>noisy</a:t>
            </a:r>
            <a:r>
              <a:rPr lang="pl-PL" dirty="0"/>
              <a:t> image </a:t>
            </a:r>
            <a:r>
              <a:rPr lang="pl-PL" dirty="0" err="1"/>
              <a:t>only</a:t>
            </a:r>
            <a:r>
              <a:rPr lang="pl-PL" dirty="0"/>
              <a:t>. The model </a:t>
            </a:r>
            <a:r>
              <a:rPr lang="pl-PL" dirty="0" err="1"/>
              <a:t>learns</a:t>
            </a:r>
            <a:r>
              <a:rPr lang="pl-PL" dirty="0"/>
              <a:t> the </a:t>
            </a:r>
            <a:r>
              <a:rPr lang="pl-PL" dirty="0" err="1"/>
              <a:t>structure</a:t>
            </a:r>
            <a:r>
              <a:rPr lang="pl-PL" dirty="0"/>
              <a:t> of the image by </a:t>
            </a:r>
            <a:r>
              <a:rPr lang="pl-PL" dirty="0" err="1"/>
              <a:t>predicting</a:t>
            </a:r>
            <a:r>
              <a:rPr lang="pl-PL" dirty="0"/>
              <a:t> </a:t>
            </a:r>
            <a:r>
              <a:rPr lang="pl-PL" dirty="0" err="1"/>
              <a:t>each</a:t>
            </a:r>
            <a:r>
              <a:rPr lang="pl-PL" dirty="0"/>
              <a:t> </a:t>
            </a:r>
            <a:r>
              <a:rPr lang="pl-PL" dirty="0" err="1"/>
              <a:t>pixel</a:t>
            </a:r>
            <a:r>
              <a:rPr lang="pl-PL" dirty="0"/>
              <a:t> from </a:t>
            </a:r>
            <a:r>
              <a:rPr lang="pl-PL" dirty="0" err="1"/>
              <a:t>its</a:t>
            </a:r>
            <a:r>
              <a:rPr lang="pl-PL" dirty="0"/>
              <a:t> </a:t>
            </a:r>
            <a:r>
              <a:rPr lang="pl-PL" dirty="0" err="1"/>
              <a:t>neighbors</a:t>
            </a:r>
            <a:r>
              <a:rPr lang="pl-PL" dirty="0"/>
              <a:t> – </a:t>
            </a:r>
            <a:r>
              <a:rPr lang="pl-PL" dirty="0" err="1"/>
              <a:t>ignoring</a:t>
            </a:r>
            <a:r>
              <a:rPr lang="pl-PL" dirty="0"/>
              <a:t> </a:t>
            </a:r>
            <a:r>
              <a:rPr lang="pl-PL" dirty="0" err="1"/>
              <a:t>noise</a:t>
            </a:r>
            <a:r>
              <a:rPr lang="pl-PL" dirty="0"/>
              <a:t>.</a:t>
            </a:r>
          </a:p>
        </p:txBody>
      </p:sp>
      <p:pic>
        <p:nvPicPr>
          <p:cNvPr id="2052" name="Picture 4" descr="The structure of proposed Convolutional AutoEncoders (CAE) for MNIST.... |  Download Scientific Diagram">
            <a:extLst>
              <a:ext uri="{FF2B5EF4-FFF2-40B4-BE49-F238E27FC236}">
                <a16:creationId xmlns:a16="http://schemas.microsoft.com/office/drawing/2014/main" id="{7CD67FE9-C1D7-9915-E80C-D12A30FDF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707" y="504298"/>
            <a:ext cx="2743200" cy="118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oise2NoiseFlow">
            <a:extLst>
              <a:ext uri="{FF2B5EF4-FFF2-40B4-BE49-F238E27FC236}">
                <a16:creationId xmlns:a16="http://schemas.microsoft.com/office/drawing/2014/main" id="{834E9382-4C9F-B333-A3E8-3F7EC0DB4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271" y="4414575"/>
            <a:ext cx="4274024" cy="132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U-Net Architecture Explained - GeeksforGeeks">
            <a:extLst>
              <a:ext uri="{FF2B5EF4-FFF2-40B4-BE49-F238E27FC236}">
                <a16:creationId xmlns:a16="http://schemas.microsoft.com/office/drawing/2014/main" id="{A26C98E1-2A30-FEAD-E5BF-BB38A75E3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295" y="1890244"/>
            <a:ext cx="4250708" cy="2125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923EF23D-9F4D-EC22-60A7-B2BF4C4609D6}"/>
              </a:ext>
            </a:extLst>
          </p:cNvPr>
          <p:cNvSpPr txBox="1"/>
          <p:nvPr/>
        </p:nvSpPr>
        <p:spPr>
          <a:xfrm>
            <a:off x="6470271" y="4060632"/>
            <a:ext cx="42017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800" dirty="0"/>
              <a:t>https://www.geeksforgeeks.org/machine-learning/u-net-architecture-explained/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840BB2A-742B-A36E-86D4-C6839C0BA62D}"/>
              </a:ext>
            </a:extLst>
          </p:cNvPr>
          <p:cNvSpPr txBox="1"/>
          <p:nvPr/>
        </p:nvSpPr>
        <p:spPr>
          <a:xfrm>
            <a:off x="6470271" y="5802858"/>
            <a:ext cx="42017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800" dirty="0"/>
              <a:t>https://yorkucvil.github.io/Noise2NoiseFlow/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C62451A-A9D4-4E8D-9F38-CFAFBAC694FE}"/>
              </a:ext>
            </a:extLst>
          </p:cNvPr>
          <p:cNvSpPr txBox="1"/>
          <p:nvPr/>
        </p:nvSpPr>
        <p:spPr>
          <a:xfrm>
            <a:off x="6470271" y="1621506"/>
            <a:ext cx="4215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800" dirty="0"/>
              <a:t>https://www.researchgate.net/figure/The-structure-of-proposed-Convolutional-AutoEncoders-CAE-for-MNIST-In-the-middle-there_fig1_320658590</a:t>
            </a:r>
          </a:p>
        </p:txBody>
      </p:sp>
    </p:spTree>
    <p:extLst>
      <p:ext uri="{BB962C8B-B14F-4D97-AF65-F5344CB8AC3E}">
        <p14:creationId xmlns:p14="http://schemas.microsoft.com/office/powerpoint/2010/main" val="690822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8700D-DB9F-325B-005A-A7503BA27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29BFF0-ABC1-577C-A522-725238A5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1. Image </a:t>
            </a:r>
            <a:r>
              <a:rPr lang="pl-PL" dirty="0" err="1"/>
              <a:t>Denoiser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7E327DB-593A-ACE9-B257-35A5F3966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Links to </a:t>
            </a:r>
            <a:r>
              <a:rPr lang="pl-PL" dirty="0" err="1"/>
              <a:t>candidate</a:t>
            </a:r>
            <a:r>
              <a:rPr lang="pl-PL" dirty="0"/>
              <a:t> </a:t>
            </a:r>
            <a:r>
              <a:rPr lang="pl-PL" dirty="0" err="1"/>
              <a:t>datasets</a:t>
            </a:r>
            <a:r>
              <a:rPr lang="pl-PL" dirty="0"/>
              <a:t>:</a:t>
            </a:r>
          </a:p>
          <a:p>
            <a:pPr lvl="1"/>
            <a:r>
              <a:rPr lang="pl-PL" dirty="0">
                <a:hlinkClick r:id="rId2"/>
              </a:rPr>
              <a:t>https://www.kaggle.com/datasets/moltean/fruits/data</a:t>
            </a:r>
            <a:endParaRPr lang="pl-PL" dirty="0"/>
          </a:p>
          <a:p>
            <a:pPr lvl="1"/>
            <a:r>
              <a:rPr lang="pl-PL" dirty="0">
                <a:hlinkClick r:id="rId3"/>
              </a:rPr>
              <a:t>https://www.kaggle.com/datasets/bhavikjikadara/dog-and-cat-classification-dataset</a:t>
            </a:r>
            <a:endParaRPr lang="pl-PL" dirty="0"/>
          </a:p>
          <a:p>
            <a:pPr lvl="1"/>
            <a:r>
              <a:rPr lang="pl-PL" dirty="0">
                <a:hlinkClick r:id="rId4"/>
              </a:rPr>
              <a:t>https://www.kaggle.com/datasets/muhammadrehan00/chest-xray-dataset</a:t>
            </a:r>
            <a:endParaRPr lang="pl-PL" dirty="0"/>
          </a:p>
          <a:p>
            <a:pPr marL="0" indent="0">
              <a:buNone/>
            </a:pPr>
            <a:r>
              <a:rPr lang="pl-PL" dirty="0" err="1"/>
              <a:t>References</a:t>
            </a:r>
            <a:r>
              <a:rPr lang="pl-PL" dirty="0"/>
              <a:t>:</a:t>
            </a:r>
          </a:p>
          <a:p>
            <a:pPr lvl="1"/>
            <a:r>
              <a:rPr lang="pl-PL" dirty="0">
                <a:hlinkClick r:id="rId5"/>
              </a:rPr>
              <a:t>https://www.kaggle.com/code/ahmedelsayedtaha/denoising-images-using-autoencoder</a:t>
            </a:r>
            <a:endParaRPr lang="pl-PL" dirty="0"/>
          </a:p>
          <a:p>
            <a:pPr lvl="1"/>
            <a:r>
              <a:rPr lang="pl-PL" dirty="0">
                <a:hlinkClick r:id="rId6"/>
              </a:rPr>
              <a:t>https://www.kaggle.com/code/davidesavarro/image-denoiser</a:t>
            </a:r>
            <a:endParaRPr lang="pl-PL" dirty="0"/>
          </a:p>
          <a:p>
            <a:pPr lvl="1"/>
            <a:r>
              <a:rPr lang="pl-PL" dirty="0">
                <a:hlinkClick r:id="rId7"/>
              </a:rPr>
              <a:t>https://raver119.medium.com/denoising-images-with-deep-learning-9124d36fda0a</a:t>
            </a:r>
            <a:endParaRPr lang="pl-PL" dirty="0"/>
          </a:p>
          <a:p>
            <a:pPr lvl="1"/>
            <a:r>
              <a:rPr lang="pl-PL" dirty="0">
                <a:hlinkClick r:id="rId8"/>
              </a:rPr>
              <a:t>https://github.com/Cydral/AI-Image-Denoiser</a:t>
            </a:r>
            <a:endParaRPr lang="pl-PL" dirty="0"/>
          </a:p>
          <a:p>
            <a:pPr lvl="1"/>
            <a:r>
              <a:rPr lang="pl-PL" dirty="0">
                <a:hlinkClick r:id="rId9"/>
              </a:rPr>
              <a:t>https://blogs.nvidia.com/blog/what-is-denoising/</a:t>
            </a:r>
            <a:endParaRPr lang="pl-PL" dirty="0"/>
          </a:p>
          <a:p>
            <a:pPr lvl="1"/>
            <a:r>
              <a:rPr lang="pl-PL" dirty="0">
                <a:hlinkClick r:id="rId10"/>
              </a:rPr>
              <a:t>https://github.com/SecretMG/UNet-for-Image-Denoising</a:t>
            </a:r>
            <a:endParaRPr lang="pl-PL" dirty="0"/>
          </a:p>
          <a:p>
            <a:pPr lvl="1"/>
            <a:r>
              <a:rPr lang="pl-PL" dirty="0">
                <a:hlinkClick r:id="rId11"/>
              </a:rPr>
              <a:t>https://www.kaggle.com/code/andreipaulavets/byu-denoising-cryo-et-with-noise2void</a:t>
            </a: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3220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CEA001-D023-C9C7-E8D7-8DB72165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2. Optimizing model with </a:t>
            </a:r>
            <a:r>
              <a:rPr lang="pl-PL" dirty="0" err="1"/>
              <a:t>quantization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E07C15B-A59D-1A3E-ED47-8E2EC4B5D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/>
              <a:t>Problem Statement &amp; </a:t>
            </a:r>
            <a:r>
              <a:rPr lang="pl-PL" b="1" dirty="0" err="1"/>
              <a:t>Motivation</a:t>
            </a:r>
            <a:endParaRPr lang="pl-PL" b="1" dirty="0"/>
          </a:p>
          <a:p>
            <a:pPr marL="0" indent="0">
              <a:buNone/>
            </a:pPr>
            <a:r>
              <a:rPr lang="pl-PL" dirty="0"/>
              <a:t>The most </a:t>
            </a:r>
            <a:r>
              <a:rPr lang="pl-PL" dirty="0" err="1"/>
              <a:t>powerful</a:t>
            </a:r>
            <a:r>
              <a:rPr lang="pl-PL" dirty="0"/>
              <a:t> AI </a:t>
            </a:r>
            <a:r>
              <a:rPr lang="pl-PL" dirty="0" err="1"/>
              <a:t>models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rely</a:t>
            </a:r>
            <a:r>
              <a:rPr lang="pl-PL" dirty="0"/>
              <a:t> on FP32 </a:t>
            </a:r>
            <a:r>
              <a:rPr lang="pl-PL" dirty="0" err="1"/>
              <a:t>or</a:t>
            </a:r>
            <a:r>
              <a:rPr lang="pl-PL" dirty="0"/>
              <a:t> BF32 precision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large</a:t>
            </a:r>
            <a:r>
              <a:rPr lang="pl-PL" dirty="0"/>
              <a:t> and </a:t>
            </a:r>
            <a:r>
              <a:rPr lang="pl-PL" dirty="0" err="1"/>
              <a:t>computationally</a:t>
            </a:r>
            <a:r>
              <a:rPr lang="pl-PL" dirty="0"/>
              <a:t> </a:t>
            </a:r>
            <a:r>
              <a:rPr lang="pl-PL" dirty="0" err="1"/>
              <a:t>expensive</a:t>
            </a:r>
            <a:r>
              <a:rPr lang="pl-PL" dirty="0"/>
              <a:t> and </a:t>
            </a:r>
            <a:r>
              <a:rPr lang="pl-PL" dirty="0" err="1"/>
              <a:t>therefore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not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suitable</a:t>
            </a:r>
            <a:r>
              <a:rPr lang="pl-PL" dirty="0"/>
              <a:t> for </a:t>
            </a:r>
            <a:r>
              <a:rPr lang="pl-PL" dirty="0" err="1"/>
              <a:t>embedded</a:t>
            </a:r>
            <a:r>
              <a:rPr lang="pl-PL" dirty="0"/>
              <a:t> / mobile devices </a:t>
            </a:r>
            <a:r>
              <a:rPr lang="pl-PL" dirty="0" err="1"/>
              <a:t>where</a:t>
            </a:r>
            <a:r>
              <a:rPr lang="pl-PL" dirty="0"/>
              <a:t> </a:t>
            </a:r>
            <a:r>
              <a:rPr lang="pl-PL" dirty="0" err="1"/>
              <a:t>every</a:t>
            </a:r>
            <a:r>
              <a:rPr lang="pl-PL" dirty="0"/>
              <a:t> </a:t>
            </a:r>
            <a:r>
              <a:rPr lang="pl-PL" dirty="0" err="1"/>
              <a:t>second</a:t>
            </a:r>
            <a:r>
              <a:rPr lang="pl-PL" dirty="0"/>
              <a:t> of </a:t>
            </a:r>
            <a:r>
              <a:rPr lang="pl-PL" dirty="0" err="1"/>
              <a:t>battery</a:t>
            </a:r>
            <a:r>
              <a:rPr lang="pl-PL" dirty="0"/>
              <a:t> life </a:t>
            </a:r>
            <a:r>
              <a:rPr lang="pl-PL" dirty="0" err="1"/>
              <a:t>matters</a:t>
            </a:r>
            <a:r>
              <a:rPr lang="pl-PL" dirty="0"/>
              <a:t>. </a:t>
            </a:r>
            <a:r>
              <a:rPr lang="pl-PL" dirty="0" err="1"/>
              <a:t>What</a:t>
            </a:r>
            <a:r>
              <a:rPr lang="pl-PL" dirty="0"/>
              <a:t> </a:t>
            </a:r>
            <a:r>
              <a:rPr lang="pl-PL" dirty="0" err="1"/>
              <a:t>if</a:t>
            </a:r>
            <a:r>
              <a:rPr lang="pl-PL" dirty="0"/>
              <a:t> we </a:t>
            </a:r>
            <a:r>
              <a:rPr lang="pl-PL" dirty="0" err="1"/>
              <a:t>could</a:t>
            </a:r>
            <a:r>
              <a:rPr lang="pl-PL" dirty="0"/>
              <a:t> </a:t>
            </a:r>
            <a:r>
              <a:rPr lang="pl-PL" dirty="0" err="1"/>
              <a:t>compress</a:t>
            </a:r>
            <a:r>
              <a:rPr lang="pl-PL" dirty="0"/>
              <a:t> </a:t>
            </a:r>
            <a:r>
              <a:rPr lang="pl-PL" dirty="0" err="1"/>
              <a:t>these</a:t>
            </a:r>
            <a:r>
              <a:rPr lang="pl-PL" dirty="0"/>
              <a:t> </a:t>
            </a:r>
            <a:r>
              <a:rPr lang="pl-PL" dirty="0" err="1"/>
              <a:t>models</a:t>
            </a:r>
            <a:r>
              <a:rPr lang="pl-PL" dirty="0"/>
              <a:t> </a:t>
            </a:r>
            <a:r>
              <a:rPr lang="pl-PL" dirty="0" err="1"/>
              <a:t>so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they</a:t>
            </a:r>
            <a:r>
              <a:rPr lang="pl-PL" dirty="0"/>
              <a:t> </a:t>
            </a:r>
            <a:r>
              <a:rPr lang="pl-PL" dirty="0" err="1"/>
              <a:t>take</a:t>
            </a:r>
            <a:r>
              <a:rPr lang="pl-PL" dirty="0"/>
              <a:t> </a:t>
            </a:r>
            <a:r>
              <a:rPr lang="pl-PL" dirty="0" err="1"/>
              <a:t>up</a:t>
            </a:r>
            <a:r>
              <a:rPr lang="pl-PL" dirty="0"/>
              <a:t> far less </a:t>
            </a:r>
            <a:r>
              <a:rPr lang="pl-PL" dirty="0" err="1"/>
              <a:t>space</a:t>
            </a:r>
            <a:r>
              <a:rPr lang="pl-PL" dirty="0"/>
              <a:t> </a:t>
            </a:r>
            <a:r>
              <a:rPr lang="pl-PL" dirty="0" err="1"/>
              <a:t>while</a:t>
            </a:r>
            <a:r>
              <a:rPr lang="pl-PL" dirty="0"/>
              <a:t> </a:t>
            </a:r>
            <a:r>
              <a:rPr lang="pl-PL" dirty="0" err="1"/>
              <a:t>maintaining</a:t>
            </a:r>
            <a:r>
              <a:rPr lang="pl-PL" dirty="0"/>
              <a:t> </a:t>
            </a:r>
            <a:r>
              <a:rPr lang="pl-PL" dirty="0" err="1"/>
              <a:t>very</a:t>
            </a:r>
            <a:r>
              <a:rPr lang="pl-PL" dirty="0"/>
              <a:t> </a:t>
            </a:r>
            <a:r>
              <a:rPr lang="pl-PL" dirty="0" err="1"/>
              <a:t>good</a:t>
            </a:r>
            <a:r>
              <a:rPr lang="pl-PL" dirty="0"/>
              <a:t> performance </a:t>
            </a:r>
            <a:r>
              <a:rPr lang="pl-PL" dirty="0" err="1"/>
              <a:t>comparing</a:t>
            </a:r>
            <a:r>
              <a:rPr lang="pl-PL" dirty="0"/>
              <a:t> to </a:t>
            </a:r>
            <a:r>
              <a:rPr lang="pl-PL" dirty="0" err="1"/>
              <a:t>their</a:t>
            </a:r>
            <a:r>
              <a:rPr lang="pl-PL" dirty="0"/>
              <a:t> </a:t>
            </a:r>
            <a:r>
              <a:rPr lang="pl-PL" dirty="0" err="1"/>
              <a:t>full</a:t>
            </a:r>
            <a:r>
              <a:rPr lang="pl-PL" dirty="0"/>
              <a:t>-precision </a:t>
            </a:r>
            <a:r>
              <a:rPr lang="pl-PL" dirty="0" err="1"/>
              <a:t>versions</a:t>
            </a:r>
            <a:r>
              <a:rPr lang="pl-PL" dirty="0"/>
              <a:t>? Then, AI </a:t>
            </a:r>
            <a:r>
              <a:rPr lang="pl-PL" dirty="0" err="1"/>
              <a:t>models</a:t>
            </a:r>
            <a:r>
              <a:rPr lang="pl-PL" dirty="0"/>
              <a:t> </a:t>
            </a:r>
            <a:r>
              <a:rPr lang="pl-PL" dirty="0" err="1"/>
              <a:t>could</a:t>
            </a:r>
            <a:r>
              <a:rPr lang="pl-PL" dirty="0"/>
              <a:t> run </a:t>
            </a:r>
            <a:r>
              <a:rPr lang="pl-PL" dirty="0" err="1"/>
              <a:t>directly</a:t>
            </a:r>
            <a:r>
              <a:rPr lang="pl-PL" dirty="0"/>
              <a:t> on the </a:t>
            </a:r>
            <a:r>
              <a:rPr lang="pl-PL" dirty="0" err="1"/>
              <a:t>device</a:t>
            </a:r>
            <a:r>
              <a:rPr lang="pl-PL" dirty="0"/>
              <a:t>, with much </a:t>
            </a:r>
            <a:r>
              <a:rPr lang="pl-PL" dirty="0" err="1"/>
              <a:t>lower</a:t>
            </a:r>
            <a:r>
              <a:rPr lang="pl-PL" dirty="0"/>
              <a:t> </a:t>
            </a:r>
            <a:r>
              <a:rPr lang="pl-PL" dirty="0" err="1"/>
              <a:t>power</a:t>
            </a:r>
            <a:r>
              <a:rPr lang="pl-PL" dirty="0"/>
              <a:t> </a:t>
            </a:r>
            <a:r>
              <a:rPr lang="pl-PL" dirty="0" err="1"/>
              <a:t>consupmption</a:t>
            </a:r>
            <a:r>
              <a:rPr lang="pl-PL" dirty="0"/>
              <a:t> and </a:t>
            </a:r>
            <a:r>
              <a:rPr lang="pl-PL" dirty="0" err="1"/>
              <a:t>relianace</a:t>
            </a:r>
            <a:r>
              <a:rPr lang="pl-PL" dirty="0"/>
              <a:t> on </a:t>
            </a:r>
            <a:r>
              <a:rPr lang="pl-PL" dirty="0" err="1"/>
              <a:t>internet</a:t>
            </a:r>
            <a:r>
              <a:rPr lang="pl-PL" dirty="0"/>
              <a:t> </a:t>
            </a:r>
            <a:r>
              <a:rPr lang="pl-PL" dirty="0" err="1"/>
              <a:t>connection</a:t>
            </a:r>
            <a:r>
              <a:rPr lang="pl-PL" dirty="0"/>
              <a:t> (</a:t>
            </a:r>
            <a:r>
              <a:rPr lang="pl-PL" dirty="0" err="1"/>
              <a:t>talking</a:t>
            </a:r>
            <a:r>
              <a:rPr lang="pl-PL" dirty="0"/>
              <a:t> with </a:t>
            </a:r>
            <a:r>
              <a:rPr lang="pl-PL" dirty="0" err="1"/>
              <a:t>cloud</a:t>
            </a:r>
            <a:r>
              <a:rPr lang="pl-PL" dirty="0"/>
              <a:t>)</a:t>
            </a:r>
          </a:p>
          <a:p>
            <a:pPr marL="0" indent="0">
              <a:buNone/>
            </a:pPr>
            <a:r>
              <a:rPr lang="pl-PL" b="1" dirty="0" err="1"/>
              <a:t>Why</a:t>
            </a:r>
            <a:r>
              <a:rPr lang="pl-PL" b="1" dirty="0"/>
              <a:t> </a:t>
            </a:r>
            <a:r>
              <a:rPr lang="pl-PL" b="1" dirty="0" err="1"/>
              <a:t>optimize</a:t>
            </a:r>
            <a:r>
              <a:rPr lang="pl-PL" b="1" dirty="0"/>
              <a:t> </a:t>
            </a:r>
            <a:r>
              <a:rPr lang="pl-PL" b="1" dirty="0" err="1"/>
              <a:t>models</a:t>
            </a:r>
            <a:r>
              <a:rPr lang="pl-PL" b="1" dirty="0"/>
              <a:t>?</a:t>
            </a:r>
          </a:p>
          <a:p>
            <a:r>
              <a:rPr lang="pl-PL" dirty="0" err="1"/>
              <a:t>Size</a:t>
            </a:r>
            <a:r>
              <a:rPr lang="pl-PL" dirty="0"/>
              <a:t> </a:t>
            </a:r>
            <a:r>
              <a:rPr lang="pl-PL" dirty="0" err="1"/>
              <a:t>reduction</a:t>
            </a:r>
            <a:endParaRPr lang="pl-PL" dirty="0"/>
          </a:p>
          <a:p>
            <a:r>
              <a:rPr lang="pl-PL" dirty="0"/>
              <a:t>Lower Ram </a:t>
            </a:r>
            <a:r>
              <a:rPr lang="pl-PL" dirty="0" err="1"/>
              <a:t>usage</a:t>
            </a:r>
            <a:endParaRPr lang="pl-PL" dirty="0"/>
          </a:p>
          <a:p>
            <a:r>
              <a:rPr lang="pl-PL" dirty="0" err="1"/>
              <a:t>Reduced</a:t>
            </a:r>
            <a:r>
              <a:rPr lang="pl-PL" dirty="0"/>
              <a:t> </a:t>
            </a:r>
            <a:r>
              <a:rPr lang="pl-PL" dirty="0" err="1"/>
              <a:t>latency</a:t>
            </a:r>
            <a:endParaRPr lang="pl-PL" dirty="0"/>
          </a:p>
        </p:txBody>
      </p:sp>
      <p:pic>
        <p:nvPicPr>
          <p:cNvPr id="1026" name="Picture 2" descr="Understanding Model Quantization in Large Language Models | DigitalOcean">
            <a:extLst>
              <a:ext uri="{FF2B5EF4-FFF2-40B4-BE49-F238E27FC236}">
                <a16:creationId xmlns:a16="http://schemas.microsoft.com/office/drawing/2014/main" id="{C81FC2DC-87CA-396C-2527-487268582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707" y="4405150"/>
            <a:ext cx="3918818" cy="191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FA22EBC3-4965-3818-25D1-E7A7CAE85E49}"/>
              </a:ext>
            </a:extLst>
          </p:cNvPr>
          <p:cNvSpPr txBox="1"/>
          <p:nvPr/>
        </p:nvSpPr>
        <p:spPr>
          <a:xfrm>
            <a:off x="6284794" y="6375825"/>
            <a:ext cx="3916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800" dirty="0"/>
              <a:t>https://www.digitalocean.com/community/tutorials/model-quantization-large-language-models</a:t>
            </a:r>
          </a:p>
        </p:txBody>
      </p:sp>
    </p:spTree>
    <p:extLst>
      <p:ext uri="{BB962C8B-B14F-4D97-AF65-F5344CB8AC3E}">
        <p14:creationId xmlns:p14="http://schemas.microsoft.com/office/powerpoint/2010/main" val="1716222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5B56C-96F5-C56B-9013-862FD64C7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0D5EFF-A4C6-5DF2-235F-195193704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2. Optimizing model with </a:t>
            </a:r>
            <a:r>
              <a:rPr lang="pl-PL" dirty="0" err="1"/>
              <a:t>quantization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5EE001-E73B-89A9-CF20-E8D492DA8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8939829" cy="47630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sz="1600" b="1" dirty="0" err="1"/>
              <a:t>Baseline</a:t>
            </a:r>
            <a:r>
              <a:rPr lang="pl-PL" sz="1600" b="1" dirty="0"/>
              <a:t> plan</a:t>
            </a:r>
          </a:p>
          <a:p>
            <a:r>
              <a:rPr lang="pl-PL" sz="1600" dirty="0" err="1"/>
              <a:t>Create</a:t>
            </a:r>
            <a:r>
              <a:rPr lang="pl-PL" sz="1600" dirty="0"/>
              <a:t> and </a:t>
            </a:r>
            <a:r>
              <a:rPr lang="pl-PL" sz="1600" dirty="0" err="1"/>
              <a:t>train</a:t>
            </a:r>
            <a:r>
              <a:rPr lang="pl-PL" sz="1600" dirty="0"/>
              <a:t> a model for image </a:t>
            </a:r>
            <a:r>
              <a:rPr lang="pl-PL" sz="1600" dirty="0" err="1"/>
              <a:t>recognision</a:t>
            </a:r>
            <a:r>
              <a:rPr lang="pl-PL" sz="1600" dirty="0"/>
              <a:t> in FP32</a:t>
            </a:r>
          </a:p>
          <a:p>
            <a:r>
              <a:rPr lang="pl-PL" sz="1600" dirty="0" err="1"/>
              <a:t>Create</a:t>
            </a:r>
            <a:r>
              <a:rPr lang="pl-PL" sz="1600" dirty="0"/>
              <a:t> and </a:t>
            </a:r>
            <a:r>
              <a:rPr lang="pl-PL" sz="1600" dirty="0" err="1"/>
              <a:t>train</a:t>
            </a:r>
            <a:r>
              <a:rPr lang="pl-PL" sz="1600" dirty="0"/>
              <a:t> a model in the same </a:t>
            </a:r>
            <a:r>
              <a:rPr lang="pl-PL" sz="1600" dirty="0" err="1"/>
              <a:t>way</a:t>
            </a:r>
            <a:r>
              <a:rPr lang="pl-PL" sz="1600" dirty="0"/>
              <a:t>, but </a:t>
            </a:r>
            <a:r>
              <a:rPr lang="pl-PL" sz="1600" dirty="0" err="1"/>
              <a:t>using</a:t>
            </a:r>
            <a:r>
              <a:rPr lang="pl-PL" sz="1600" dirty="0"/>
              <a:t> </a:t>
            </a:r>
            <a:r>
              <a:rPr lang="pl-PL" sz="1600" dirty="0" err="1"/>
              <a:t>some</a:t>
            </a:r>
            <a:r>
              <a:rPr lang="pl-PL" sz="1600" dirty="0"/>
              <a:t> </a:t>
            </a:r>
            <a:r>
              <a:rPr lang="pl-PL" sz="1600" dirty="0" err="1"/>
              <a:t>quantization</a:t>
            </a:r>
            <a:r>
              <a:rPr lang="pl-PL" sz="1600" dirty="0"/>
              <a:t> </a:t>
            </a:r>
            <a:r>
              <a:rPr lang="pl-PL" sz="1600" dirty="0" err="1"/>
              <a:t>methods</a:t>
            </a:r>
            <a:r>
              <a:rPr lang="pl-PL" sz="1600" dirty="0"/>
              <a:t> (QAT, PTQ, </a:t>
            </a:r>
            <a:r>
              <a:rPr lang="pl-PL" sz="1600" dirty="0" err="1"/>
              <a:t>combination</a:t>
            </a:r>
            <a:r>
              <a:rPr lang="pl-PL" sz="1600" dirty="0"/>
              <a:t>)</a:t>
            </a:r>
          </a:p>
          <a:p>
            <a:r>
              <a:rPr lang="pl-PL" sz="1600" dirty="0" err="1"/>
              <a:t>Compare</a:t>
            </a:r>
            <a:r>
              <a:rPr lang="pl-PL" sz="1600" dirty="0"/>
              <a:t> </a:t>
            </a:r>
            <a:r>
              <a:rPr lang="pl-PL" sz="1600" dirty="0" err="1"/>
              <a:t>metrics</a:t>
            </a:r>
            <a:r>
              <a:rPr lang="pl-PL" sz="1600" dirty="0"/>
              <a:t> of </a:t>
            </a:r>
            <a:r>
              <a:rPr lang="pl-PL" sz="1600" dirty="0" err="1"/>
              <a:t>those</a:t>
            </a:r>
            <a:r>
              <a:rPr lang="pl-PL" sz="1600" dirty="0"/>
              <a:t> </a:t>
            </a:r>
            <a:r>
              <a:rPr lang="pl-PL" sz="1600" dirty="0" err="1"/>
              <a:t>models</a:t>
            </a:r>
            <a:endParaRPr lang="pl-PL" sz="1600" dirty="0"/>
          </a:p>
          <a:p>
            <a:r>
              <a:rPr lang="pl-PL" sz="1600" dirty="0"/>
              <a:t>(OPTIONAL) </a:t>
            </a:r>
            <a:r>
              <a:rPr lang="pl-PL" sz="1600" dirty="0" err="1"/>
              <a:t>Weight</a:t>
            </a:r>
            <a:r>
              <a:rPr lang="pl-PL" sz="1600" dirty="0"/>
              <a:t> </a:t>
            </a:r>
            <a:r>
              <a:rPr lang="pl-PL" sz="1600" dirty="0" err="1"/>
              <a:t>Pruning</a:t>
            </a:r>
            <a:endParaRPr lang="pl-PL" sz="1600" dirty="0"/>
          </a:p>
          <a:p>
            <a:pPr marL="0" indent="0">
              <a:buNone/>
            </a:pPr>
            <a:r>
              <a:rPr lang="pl-PL" sz="1600" b="1" dirty="0" err="1"/>
              <a:t>Metrics</a:t>
            </a:r>
            <a:r>
              <a:rPr lang="pl-PL" sz="1600" dirty="0"/>
              <a:t> (I </a:t>
            </a:r>
            <a:r>
              <a:rPr lang="pl-PL" sz="1600" dirty="0" err="1"/>
              <a:t>will</a:t>
            </a:r>
            <a:r>
              <a:rPr lang="pl-PL" sz="1600" dirty="0"/>
              <a:t> most </a:t>
            </a:r>
            <a:r>
              <a:rPr lang="pl-PL" sz="1600" dirty="0" err="1"/>
              <a:t>likely</a:t>
            </a:r>
            <a:r>
              <a:rPr lang="pl-PL" sz="1600" dirty="0"/>
              <a:t> </a:t>
            </a:r>
            <a:r>
              <a:rPr lang="pl-PL" sz="1600" dirty="0" err="1"/>
              <a:t>use</a:t>
            </a:r>
            <a:r>
              <a:rPr lang="pl-PL" sz="1600" dirty="0"/>
              <a:t>):</a:t>
            </a:r>
          </a:p>
          <a:p>
            <a:r>
              <a:rPr lang="pl-PL" sz="1600" dirty="0" err="1"/>
              <a:t>mAP</a:t>
            </a:r>
            <a:r>
              <a:rPr lang="pl-PL" sz="1600" dirty="0"/>
              <a:t> (</a:t>
            </a:r>
            <a:r>
              <a:rPr lang="pl-PL" sz="1600" dirty="0" err="1"/>
              <a:t>mean</a:t>
            </a:r>
            <a:r>
              <a:rPr lang="pl-PL" sz="1600" dirty="0"/>
              <a:t> </a:t>
            </a:r>
            <a:r>
              <a:rPr lang="pl-PL" sz="1600" dirty="0" err="1"/>
              <a:t>Averate</a:t>
            </a:r>
            <a:r>
              <a:rPr lang="pl-PL" sz="1600" dirty="0"/>
              <a:t> Precision)</a:t>
            </a:r>
          </a:p>
          <a:p>
            <a:r>
              <a:rPr lang="pl-PL" sz="1600" dirty="0"/>
              <a:t>Precision, </a:t>
            </a:r>
            <a:r>
              <a:rPr lang="pl-PL" sz="1600" dirty="0" err="1"/>
              <a:t>Recall</a:t>
            </a:r>
            <a:r>
              <a:rPr lang="pl-PL" sz="1600" dirty="0"/>
              <a:t>, F1-score</a:t>
            </a:r>
          </a:p>
          <a:p>
            <a:r>
              <a:rPr lang="pl-PL" sz="1600" dirty="0" err="1"/>
              <a:t>Inference</a:t>
            </a:r>
            <a:r>
              <a:rPr lang="pl-PL" sz="1600" dirty="0"/>
              <a:t> </a:t>
            </a:r>
            <a:r>
              <a:rPr lang="pl-PL" sz="1600" dirty="0" err="1"/>
              <a:t>time</a:t>
            </a:r>
            <a:endParaRPr lang="pl-PL" sz="1600" dirty="0"/>
          </a:p>
          <a:p>
            <a:r>
              <a:rPr lang="pl-PL" sz="1600" dirty="0" err="1"/>
              <a:t>Throughput</a:t>
            </a:r>
            <a:r>
              <a:rPr lang="pl-PL" sz="1600" dirty="0"/>
              <a:t> (FPS)</a:t>
            </a:r>
          </a:p>
          <a:p>
            <a:r>
              <a:rPr lang="pl-PL" sz="1600" dirty="0" err="1"/>
              <a:t>Latency</a:t>
            </a:r>
            <a:endParaRPr lang="pl-PL" sz="1600" dirty="0"/>
          </a:p>
          <a:p>
            <a:r>
              <a:rPr lang="pl-PL" sz="1600" dirty="0"/>
              <a:t>Disk and RAM </a:t>
            </a:r>
            <a:r>
              <a:rPr lang="pl-PL" sz="1600" dirty="0" err="1"/>
              <a:t>usage</a:t>
            </a: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129032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75F5-5892-2584-8A29-A2C07F13A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364C57-3B5B-B7AD-8741-1FF84E32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2. Optimizing model with </a:t>
            </a:r>
            <a:r>
              <a:rPr lang="pl-PL" dirty="0" err="1"/>
              <a:t>quantization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BD91312-BA1A-1305-1D28-E942C8154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6455937" cy="43513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Key terms, models, methods, and algorithms</a:t>
            </a:r>
            <a:endParaRPr lang="pl-PL" b="1" dirty="0"/>
          </a:p>
          <a:p>
            <a:r>
              <a:rPr lang="pl-PL" b="1" dirty="0"/>
              <a:t>QAT (</a:t>
            </a:r>
            <a:r>
              <a:rPr lang="pl-PL" b="1" dirty="0" err="1"/>
              <a:t>Quantization-Aware</a:t>
            </a:r>
            <a:r>
              <a:rPr lang="pl-PL" b="1" dirty="0"/>
              <a:t> Training) </a:t>
            </a:r>
            <a:r>
              <a:rPr lang="pl-PL" dirty="0"/>
              <a:t>– </a:t>
            </a:r>
            <a:r>
              <a:rPr lang="pl-PL" dirty="0" err="1"/>
              <a:t>Introduce</a:t>
            </a:r>
            <a:r>
              <a:rPr lang="pl-PL" dirty="0"/>
              <a:t> </a:t>
            </a:r>
            <a:r>
              <a:rPr lang="pl-PL" dirty="0" err="1"/>
              <a:t>quantization</a:t>
            </a:r>
            <a:r>
              <a:rPr lang="pl-PL" dirty="0"/>
              <a:t> </a:t>
            </a:r>
            <a:r>
              <a:rPr lang="pl-PL" dirty="0" err="1"/>
              <a:t>effects</a:t>
            </a:r>
            <a:r>
              <a:rPr lang="pl-PL" dirty="0"/>
              <a:t> </a:t>
            </a:r>
            <a:r>
              <a:rPr lang="pl-PL" dirty="0" err="1"/>
              <a:t>during</a:t>
            </a:r>
            <a:r>
              <a:rPr lang="pl-PL" dirty="0"/>
              <a:t> </a:t>
            </a:r>
            <a:r>
              <a:rPr lang="pl-PL" dirty="0" err="1"/>
              <a:t>training</a:t>
            </a:r>
            <a:r>
              <a:rPr lang="pl-PL" dirty="0"/>
              <a:t>. </a:t>
            </a:r>
            <a:r>
              <a:rPr lang="pl-PL" dirty="0" err="1"/>
              <a:t>Forward</a:t>
            </a:r>
            <a:r>
              <a:rPr lang="pl-PL" dirty="0"/>
              <a:t> pass </a:t>
            </a:r>
            <a:r>
              <a:rPr lang="pl-PL" dirty="0" err="1"/>
              <a:t>introduces</a:t>
            </a:r>
            <a:r>
              <a:rPr lang="pl-PL" dirty="0"/>
              <a:t> „</a:t>
            </a:r>
            <a:r>
              <a:rPr lang="pl-PL" dirty="0" err="1"/>
              <a:t>fake</a:t>
            </a:r>
            <a:r>
              <a:rPr lang="pl-PL" dirty="0"/>
              <a:t> </a:t>
            </a:r>
            <a:r>
              <a:rPr lang="pl-PL" dirty="0" err="1"/>
              <a:t>quantized</a:t>
            </a:r>
            <a:r>
              <a:rPr lang="pl-PL" dirty="0"/>
              <a:t> </a:t>
            </a:r>
            <a:r>
              <a:rPr lang="pl-PL" dirty="0" err="1"/>
              <a:t>weights</a:t>
            </a:r>
            <a:r>
              <a:rPr lang="pl-PL" dirty="0"/>
              <a:t>”, </a:t>
            </a:r>
            <a:r>
              <a:rPr lang="pl-PL" dirty="0" err="1"/>
              <a:t>while</a:t>
            </a:r>
            <a:r>
              <a:rPr lang="pl-PL" dirty="0"/>
              <a:t> </a:t>
            </a:r>
            <a:r>
              <a:rPr lang="pl-PL" dirty="0" err="1"/>
              <a:t>backward</a:t>
            </a:r>
            <a:r>
              <a:rPr lang="pl-PL" dirty="0"/>
              <a:t> pass </a:t>
            </a:r>
            <a:r>
              <a:rPr lang="pl-PL" dirty="0" err="1"/>
              <a:t>uses</a:t>
            </a:r>
            <a:r>
              <a:rPr lang="pl-PL" dirty="0"/>
              <a:t> </a:t>
            </a:r>
            <a:r>
              <a:rPr lang="pl-PL" dirty="0" err="1"/>
              <a:t>full</a:t>
            </a:r>
            <a:r>
              <a:rPr lang="pl-PL" dirty="0"/>
              <a:t> </a:t>
            </a:r>
            <a:r>
              <a:rPr lang="pl-PL" dirty="0" err="1"/>
              <a:t>precission</a:t>
            </a:r>
            <a:r>
              <a:rPr lang="pl-PL" dirty="0"/>
              <a:t> for </a:t>
            </a:r>
            <a:r>
              <a:rPr lang="pl-PL" dirty="0" err="1"/>
              <a:t>calculating</a:t>
            </a:r>
            <a:r>
              <a:rPr lang="pl-PL" dirty="0"/>
              <a:t> </a:t>
            </a:r>
            <a:r>
              <a:rPr lang="pl-PL" dirty="0" err="1"/>
              <a:t>gradients</a:t>
            </a:r>
            <a:r>
              <a:rPr lang="pl-PL" dirty="0"/>
              <a:t>.</a:t>
            </a:r>
          </a:p>
          <a:p>
            <a:r>
              <a:rPr lang="pl-PL" b="1" dirty="0"/>
              <a:t>PTQ (Post-Training </a:t>
            </a:r>
            <a:r>
              <a:rPr lang="pl-PL" b="1" dirty="0" err="1"/>
              <a:t>Quantization</a:t>
            </a:r>
            <a:r>
              <a:rPr lang="pl-PL" b="1" dirty="0"/>
              <a:t>) </a:t>
            </a:r>
            <a:r>
              <a:rPr lang="pl-PL" dirty="0"/>
              <a:t>– </a:t>
            </a:r>
            <a:r>
              <a:rPr lang="pl-PL" dirty="0" err="1"/>
              <a:t>Fully</a:t>
            </a:r>
            <a:r>
              <a:rPr lang="pl-PL" dirty="0"/>
              <a:t> </a:t>
            </a:r>
            <a:r>
              <a:rPr lang="pl-PL" dirty="0" err="1"/>
              <a:t>trained</a:t>
            </a:r>
            <a:r>
              <a:rPr lang="pl-PL" dirty="0"/>
              <a:t> model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quantized</a:t>
            </a:r>
            <a:r>
              <a:rPr lang="pl-PL" dirty="0"/>
              <a:t>.</a:t>
            </a:r>
          </a:p>
          <a:p>
            <a:pPr lvl="1"/>
            <a:r>
              <a:rPr lang="pl-PL" b="1" dirty="0" err="1"/>
              <a:t>Static</a:t>
            </a:r>
            <a:r>
              <a:rPr lang="pl-PL" b="1" dirty="0"/>
              <a:t> </a:t>
            </a:r>
            <a:r>
              <a:rPr lang="pl-PL" b="1" dirty="0" err="1"/>
              <a:t>Quantization</a:t>
            </a:r>
            <a:r>
              <a:rPr lang="pl-PL" b="1" dirty="0"/>
              <a:t> </a:t>
            </a:r>
            <a:r>
              <a:rPr lang="pl-PL" dirty="0"/>
              <a:t>– </a:t>
            </a:r>
            <a:r>
              <a:rPr lang="pl-PL" dirty="0" err="1"/>
              <a:t>involves</a:t>
            </a:r>
            <a:r>
              <a:rPr lang="pl-PL" dirty="0"/>
              <a:t> </a:t>
            </a:r>
            <a:r>
              <a:rPr lang="pl-PL" dirty="0" err="1"/>
              <a:t>quantizing</a:t>
            </a:r>
            <a:r>
              <a:rPr lang="pl-PL" dirty="0"/>
              <a:t> </a:t>
            </a:r>
            <a:r>
              <a:rPr lang="pl-PL" dirty="0" err="1"/>
              <a:t>both</a:t>
            </a:r>
            <a:r>
              <a:rPr lang="pl-PL" dirty="0"/>
              <a:t> the model </a:t>
            </a:r>
            <a:r>
              <a:rPr lang="pl-PL" dirty="0" err="1"/>
              <a:t>weights</a:t>
            </a:r>
            <a:r>
              <a:rPr lang="pl-PL" dirty="0"/>
              <a:t> and </a:t>
            </a:r>
            <a:r>
              <a:rPr lang="pl-PL" dirty="0" err="1"/>
              <a:t>activations</a:t>
            </a:r>
            <a:r>
              <a:rPr lang="pl-PL" dirty="0"/>
              <a:t> </a:t>
            </a:r>
            <a:r>
              <a:rPr lang="pl-PL" dirty="0" err="1"/>
              <a:t>before</a:t>
            </a:r>
            <a:r>
              <a:rPr lang="pl-PL" dirty="0"/>
              <a:t> performing </a:t>
            </a:r>
            <a:r>
              <a:rPr lang="pl-PL" dirty="0" err="1"/>
              <a:t>inference</a:t>
            </a:r>
            <a:r>
              <a:rPr lang="pl-PL" dirty="0"/>
              <a:t>. It </a:t>
            </a:r>
            <a:r>
              <a:rPr lang="pl-PL" dirty="0" err="1"/>
              <a:t>needs</a:t>
            </a:r>
            <a:r>
              <a:rPr lang="pl-PL" dirty="0"/>
              <a:t> </a:t>
            </a:r>
            <a:r>
              <a:rPr lang="pl-PL" dirty="0" err="1"/>
              <a:t>calibration</a:t>
            </a:r>
            <a:r>
              <a:rPr lang="pl-PL" dirty="0"/>
              <a:t>.</a:t>
            </a:r>
          </a:p>
          <a:p>
            <a:pPr lvl="1"/>
            <a:r>
              <a:rPr lang="pl-PL" b="1" dirty="0" err="1"/>
              <a:t>Dynamic</a:t>
            </a:r>
            <a:r>
              <a:rPr lang="pl-PL" b="1" dirty="0"/>
              <a:t> </a:t>
            </a:r>
            <a:r>
              <a:rPr lang="pl-PL" b="1" dirty="0" err="1"/>
              <a:t>Range</a:t>
            </a:r>
            <a:r>
              <a:rPr lang="pl-PL" b="1" dirty="0"/>
              <a:t> </a:t>
            </a:r>
            <a:r>
              <a:rPr lang="pl-PL" b="1" dirty="0" err="1"/>
              <a:t>Quantization</a:t>
            </a:r>
            <a:r>
              <a:rPr lang="pl-PL" b="1" dirty="0"/>
              <a:t> </a:t>
            </a:r>
            <a:r>
              <a:rPr lang="pl-PL" dirty="0"/>
              <a:t>- „</a:t>
            </a:r>
            <a:r>
              <a:rPr lang="pl-PL" dirty="0" err="1"/>
              <a:t>Weight-only</a:t>
            </a:r>
            <a:r>
              <a:rPr lang="pl-PL" dirty="0"/>
              <a:t> </a:t>
            </a:r>
            <a:r>
              <a:rPr lang="pl-PL" dirty="0" err="1"/>
              <a:t>quantization</a:t>
            </a:r>
            <a:r>
              <a:rPr lang="pl-PL" dirty="0"/>
              <a:t>”. It </a:t>
            </a:r>
            <a:r>
              <a:rPr lang="pl-PL" dirty="0" err="1"/>
              <a:t>dynamically</a:t>
            </a:r>
            <a:r>
              <a:rPr lang="pl-PL" dirty="0"/>
              <a:t> </a:t>
            </a:r>
            <a:r>
              <a:rPr lang="pl-PL" dirty="0" err="1"/>
              <a:t>converts</a:t>
            </a:r>
            <a:r>
              <a:rPr lang="pl-PL" dirty="0"/>
              <a:t> </a:t>
            </a:r>
            <a:r>
              <a:rPr lang="pl-PL" dirty="0" err="1"/>
              <a:t>input</a:t>
            </a:r>
            <a:r>
              <a:rPr lang="pl-PL" dirty="0"/>
              <a:t> data (high </a:t>
            </a:r>
            <a:r>
              <a:rPr lang="pl-PL" dirty="0" err="1"/>
              <a:t>precission</a:t>
            </a:r>
            <a:r>
              <a:rPr lang="pl-PL" dirty="0"/>
              <a:t>) to </a:t>
            </a:r>
            <a:r>
              <a:rPr lang="pl-PL" dirty="0" err="1"/>
              <a:t>lower</a:t>
            </a:r>
            <a:r>
              <a:rPr lang="pl-PL" dirty="0"/>
              <a:t> </a:t>
            </a:r>
            <a:r>
              <a:rPr lang="pl-PL" dirty="0" err="1"/>
              <a:t>precission</a:t>
            </a:r>
            <a:r>
              <a:rPr lang="pl-PL" dirty="0"/>
              <a:t> </a:t>
            </a:r>
            <a:r>
              <a:rPr lang="pl-PL" dirty="0" err="1"/>
              <a:t>before</a:t>
            </a:r>
            <a:r>
              <a:rPr lang="pl-PL" dirty="0"/>
              <a:t> </a:t>
            </a:r>
            <a:r>
              <a:rPr lang="pl-PL" dirty="0" err="1"/>
              <a:t>computing</a:t>
            </a:r>
            <a:r>
              <a:rPr lang="pl-PL" dirty="0"/>
              <a:t> and </a:t>
            </a:r>
            <a:r>
              <a:rPr lang="pl-PL" dirty="0" err="1"/>
              <a:t>then</a:t>
            </a:r>
            <a:r>
              <a:rPr lang="pl-PL" dirty="0"/>
              <a:t> </a:t>
            </a:r>
            <a:r>
              <a:rPr lang="pl-PL" dirty="0" err="1"/>
              <a:t>dequantize</a:t>
            </a:r>
            <a:r>
              <a:rPr lang="pl-PL" dirty="0"/>
              <a:t> </a:t>
            </a:r>
            <a:r>
              <a:rPr lang="pl-PL" dirty="0" err="1"/>
              <a:t>result</a:t>
            </a:r>
            <a:r>
              <a:rPr lang="pl-PL" dirty="0"/>
              <a:t> </a:t>
            </a:r>
            <a:r>
              <a:rPr lang="pl-PL" dirty="0" err="1"/>
              <a:t>back</a:t>
            </a:r>
            <a:r>
              <a:rPr lang="pl-PL" dirty="0"/>
              <a:t> </a:t>
            </a:r>
            <a:r>
              <a:rPr lang="pl-PL" dirty="0" err="1"/>
              <a:t>before</a:t>
            </a:r>
            <a:r>
              <a:rPr lang="pl-PL" dirty="0"/>
              <a:t> </a:t>
            </a:r>
            <a:r>
              <a:rPr lang="pl-PL" dirty="0" err="1"/>
              <a:t>outputing</a:t>
            </a:r>
            <a:r>
              <a:rPr lang="pl-PL" dirty="0"/>
              <a:t> the </a:t>
            </a:r>
            <a:r>
              <a:rPr lang="pl-PL" dirty="0" err="1"/>
              <a:t>result</a:t>
            </a:r>
            <a:r>
              <a:rPr lang="pl-PL" dirty="0"/>
              <a:t>.</a:t>
            </a:r>
            <a:endParaRPr lang="pl-PL" b="1" dirty="0"/>
          </a:p>
          <a:p>
            <a:r>
              <a:rPr lang="pl-PL" dirty="0"/>
              <a:t>(</a:t>
            </a:r>
            <a:r>
              <a:rPr lang="pl-PL" dirty="0" err="1"/>
              <a:t>Optional</a:t>
            </a:r>
            <a:r>
              <a:rPr lang="pl-PL" dirty="0"/>
              <a:t>) </a:t>
            </a:r>
            <a:r>
              <a:rPr lang="pl-PL" dirty="0" err="1"/>
              <a:t>Weight</a:t>
            </a:r>
            <a:r>
              <a:rPr lang="pl-PL" dirty="0"/>
              <a:t> </a:t>
            </a:r>
            <a:r>
              <a:rPr lang="pl-PL" dirty="0" err="1"/>
              <a:t>Pruning</a:t>
            </a:r>
            <a:endParaRPr lang="pl-PL" dirty="0"/>
          </a:p>
        </p:txBody>
      </p:sp>
      <p:pic>
        <p:nvPicPr>
          <p:cNvPr id="2050" name="Picture 2" descr="What is Quantization Aware Training? | IBM">
            <a:extLst>
              <a:ext uri="{FF2B5EF4-FFF2-40B4-BE49-F238E27FC236}">
                <a16:creationId xmlns:a16="http://schemas.microsoft.com/office/drawing/2014/main" id="{B193DD48-2714-6B4D-6250-DCE5C655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576" y="484020"/>
            <a:ext cx="3415826" cy="229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D2002F45-A2DE-CDE0-1C87-0069DFDC3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576" y="2780731"/>
            <a:ext cx="3357349" cy="1399577"/>
          </a:xfrm>
          <a:prstGeom prst="rect">
            <a:avLst/>
          </a:prstGeom>
        </p:spPr>
      </p:pic>
      <p:pic>
        <p:nvPicPr>
          <p:cNvPr id="2058" name="Picture 10" descr="Quantization-Aware Training(QAT) and Post-Training Quantization (PTQ)">
            <a:extLst>
              <a:ext uri="{FF2B5EF4-FFF2-40B4-BE49-F238E27FC236}">
                <a16:creationId xmlns:a16="http://schemas.microsoft.com/office/drawing/2014/main" id="{56E0D8F7-5A92-EF5E-DEFE-76F55DEE1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945" y="4415762"/>
            <a:ext cx="3367088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426DBBF-1E7B-3EDC-2A9A-28985109DCE8}"/>
              </a:ext>
            </a:extLst>
          </p:cNvPr>
          <p:cNvSpPr txBox="1"/>
          <p:nvPr/>
        </p:nvSpPr>
        <p:spPr>
          <a:xfrm>
            <a:off x="7789946" y="6318913"/>
            <a:ext cx="3332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800" dirty="0"/>
              <a:t>https://www.researchgate.net/figure/Quantization-Aware-TrainingQAT-and-Post-Training-Quantization-PTQ_fig1_373610679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5DC2F84-348C-3747-82E3-D1D938791FEB}"/>
              </a:ext>
            </a:extLst>
          </p:cNvPr>
          <p:cNvSpPr txBox="1"/>
          <p:nvPr/>
        </p:nvSpPr>
        <p:spPr>
          <a:xfrm>
            <a:off x="7789945" y="2597150"/>
            <a:ext cx="32336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800" dirty="0"/>
              <a:t>https://www.ibm.com/think/topics/quantization-aware-training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D873B66-F719-B894-728D-DEDE4F6081CC}"/>
              </a:ext>
            </a:extLst>
          </p:cNvPr>
          <p:cNvSpPr txBox="1"/>
          <p:nvPr/>
        </p:nvSpPr>
        <p:spPr>
          <a:xfrm>
            <a:off x="7789945" y="4076700"/>
            <a:ext cx="32336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800" dirty="0"/>
              <a:t>https://docs.openvino.ai/2025/openvino-workflow/model-optimization-guide/quantizing-models-post-training.html</a:t>
            </a:r>
          </a:p>
        </p:txBody>
      </p:sp>
    </p:spTree>
    <p:extLst>
      <p:ext uri="{BB962C8B-B14F-4D97-AF65-F5344CB8AC3E}">
        <p14:creationId xmlns:p14="http://schemas.microsoft.com/office/powerpoint/2010/main" val="3804256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E84C-330B-ACC4-F724-E53E7D43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18873E-8D73-882A-BF3F-F9E00212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2. Optimizing model with </a:t>
            </a:r>
            <a:r>
              <a:rPr lang="pl-PL" dirty="0" err="1"/>
              <a:t>quantization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401BB37-DED1-9669-5DD6-D8D85B394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Link do </a:t>
            </a:r>
            <a:r>
              <a:rPr lang="pl-PL" dirty="0" err="1"/>
              <a:t>candidate</a:t>
            </a:r>
            <a:r>
              <a:rPr lang="pl-PL" dirty="0"/>
              <a:t> </a:t>
            </a:r>
            <a:r>
              <a:rPr lang="pl-PL" dirty="0" err="1"/>
              <a:t>datasets</a:t>
            </a:r>
            <a:r>
              <a:rPr lang="pl-PL" dirty="0"/>
              <a:t>:</a:t>
            </a:r>
          </a:p>
          <a:p>
            <a:r>
              <a:rPr lang="pl-PL" dirty="0">
                <a:hlinkClick r:id="rId2"/>
              </a:rPr>
              <a:t>https://www.kaggle.com/datasets/alessiocorrado99/animals10</a:t>
            </a:r>
            <a:endParaRPr lang="pl-PL" dirty="0"/>
          </a:p>
          <a:p>
            <a:r>
              <a:rPr lang="pl-PL" dirty="0">
                <a:hlinkClick r:id="rId3"/>
              </a:rPr>
              <a:t>https://www.kaggle.com/datasets/anshulmehtakaggl/wildlife-animals-images</a:t>
            </a:r>
            <a:endParaRPr lang="pl-PL" dirty="0"/>
          </a:p>
          <a:p>
            <a:pPr marL="0" indent="0">
              <a:buNone/>
            </a:pPr>
            <a:r>
              <a:rPr lang="pl-PL" dirty="0" err="1"/>
              <a:t>References</a:t>
            </a:r>
            <a:r>
              <a:rPr lang="pl-PL" dirty="0"/>
              <a:t>:</a:t>
            </a:r>
          </a:p>
          <a:p>
            <a:r>
              <a:rPr lang="pl-PL" u="sng" dirty="0">
                <a:hlinkClick r:id="rId4"/>
              </a:rPr>
              <a:t>https://www.kaggle.com/code/ashusma/understanding-tf-lite-and-model-optimization</a:t>
            </a:r>
            <a:endParaRPr lang="pl-PL" dirty="0"/>
          </a:p>
          <a:p>
            <a:r>
              <a:rPr lang="pl-PL" dirty="0">
                <a:hlinkClick r:id="rId5"/>
              </a:rPr>
              <a:t>https://selek.tech/posts/static-vs-dynamic-quantization-in-machine-learning/</a:t>
            </a:r>
            <a:endParaRPr lang="pl-PL" dirty="0"/>
          </a:p>
          <a:p>
            <a:r>
              <a:rPr lang="pl-PL" dirty="0">
                <a:hlinkClick r:id="rId6"/>
              </a:rPr>
              <a:t>https://www.ibm.com/think/topics/quantization-aware-training</a:t>
            </a:r>
            <a:endParaRPr lang="pl-PL" dirty="0"/>
          </a:p>
          <a:p>
            <a:r>
              <a:rPr lang="pl-PL" dirty="0">
                <a:hlinkClick r:id="rId7"/>
              </a:rPr>
              <a:t>https://apxml.com/courses/practical-llm-quantization/chapter-2-post-training-quantization-ptq/static-dynamic-quantization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34757086"/>
      </p:ext>
    </p:extLst>
  </p:cSld>
  <p:clrMapOvr>
    <a:masterClrMapping/>
  </p:clrMapOvr>
</p:sld>
</file>

<file path=ppt/theme/theme1.xml><?xml version="1.0" encoding="utf-8"?>
<a:theme xmlns:a="http://schemas.openxmlformats.org/drawingml/2006/main" name="Widok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TM03457515[[fn=Widok]]</Template>
  <TotalTime>109</TotalTime>
  <Words>982</Words>
  <Application>Microsoft Office PowerPoint</Application>
  <PresentationFormat>Panoramiczny</PresentationFormat>
  <Paragraphs>77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3" baseType="lpstr">
      <vt:lpstr>Arial</vt:lpstr>
      <vt:lpstr>Century Schoolbook</vt:lpstr>
      <vt:lpstr>Wingdings 2</vt:lpstr>
      <vt:lpstr>Widok</vt:lpstr>
      <vt:lpstr>Presentation of chosen topics</vt:lpstr>
      <vt:lpstr>1. Image Denoiser</vt:lpstr>
      <vt:lpstr>1. Image Denoiser</vt:lpstr>
      <vt:lpstr>1. Image Denoiser</vt:lpstr>
      <vt:lpstr>1. Image Denoiser</vt:lpstr>
      <vt:lpstr>2. Optimizing model with quantization</vt:lpstr>
      <vt:lpstr>2. Optimizing model with quantization</vt:lpstr>
      <vt:lpstr>2. Optimizing model with quantization</vt:lpstr>
      <vt:lpstr>2. Optimizing model with quantization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Jabłoński</dc:creator>
  <cp:lastModifiedBy>Jakub Jabłoński</cp:lastModifiedBy>
  <cp:revision>4</cp:revision>
  <dcterms:created xsi:type="dcterms:W3CDTF">2025-10-13T19:51:43Z</dcterms:created>
  <dcterms:modified xsi:type="dcterms:W3CDTF">2025-10-14T16:28:06Z</dcterms:modified>
</cp:coreProperties>
</file>