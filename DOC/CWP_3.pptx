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10/25/2025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10/25/2025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10/25/2025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10/25/2025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10/25/2025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10/25/2025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ccess.thecvf.com/content_CVPR_2019/html/Krull_Noise2Void_-_Learning_Denoising_From_Single_Noisy_Images_CVPR_2019_paper.html" TargetMode="External"/><Relationship Id="rId2" Type="http://schemas.openxmlformats.org/officeDocument/2006/relationships/hyperlink" Target="https://arxiv.org/abs/1608.0398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eeexplore.ieee.org/document/9360532" TargetMode="External"/><Relationship Id="rId4" Type="http://schemas.openxmlformats.org/officeDocument/2006/relationships/hyperlink" Target="https://arxiv.org/abs/1710.0402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6636A1F-6ECB-973E-477C-436BB279A6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err="1"/>
              <a:t>Computational</a:t>
            </a:r>
            <a:r>
              <a:rPr lang="pl-PL" dirty="0"/>
              <a:t> </a:t>
            </a:r>
            <a:r>
              <a:rPr lang="pl-PL" dirty="0" err="1"/>
              <a:t>Intelligence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A50D370-67B4-F51F-C334-5D76F75DF8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Project </a:t>
            </a:r>
            <a:r>
              <a:rPr lang="pl-PL" dirty="0" err="1"/>
              <a:t>class</a:t>
            </a:r>
            <a:r>
              <a:rPr lang="pl-PL" dirty="0"/>
              <a:t>: #3</a:t>
            </a:r>
            <a:br>
              <a:rPr lang="pl-PL" dirty="0"/>
            </a:br>
            <a:r>
              <a:rPr lang="pl-PL" dirty="0"/>
              <a:t>Author: Jakub Jabłoński</a:t>
            </a:r>
          </a:p>
        </p:txBody>
      </p:sp>
    </p:spTree>
    <p:extLst>
      <p:ext uri="{BB962C8B-B14F-4D97-AF65-F5344CB8AC3E}">
        <p14:creationId xmlns:p14="http://schemas.microsoft.com/office/powerpoint/2010/main" val="620861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70341F-B607-06D8-0C6C-DB7FC644B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290" y="365760"/>
            <a:ext cx="5997678" cy="1325562"/>
          </a:xfrm>
        </p:spPr>
        <p:txBody>
          <a:bodyPr>
            <a:normAutofit/>
          </a:bodyPr>
          <a:lstStyle/>
          <a:p>
            <a:r>
              <a:rPr lang="pl-PL" dirty="0"/>
              <a:t>Image </a:t>
            </a:r>
            <a:r>
              <a:rPr lang="pl-PL" dirty="0" err="1"/>
              <a:t>Denoiser</a:t>
            </a:r>
            <a:endParaRPr lang="pl-PL" dirty="0"/>
          </a:p>
        </p:txBody>
      </p:sp>
      <p:pic>
        <p:nvPicPr>
          <p:cNvPr id="5" name="Picture 4" descr="Komórki nerwowe ludzkiego mózgu">
            <a:extLst>
              <a:ext uri="{FF2B5EF4-FFF2-40B4-BE49-F238E27FC236}">
                <a16:creationId xmlns:a16="http://schemas.microsoft.com/office/drawing/2014/main" id="{94E1AE20-1CD6-F713-F3CA-FD4C8731E0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73" r="35538"/>
          <a:stretch>
            <a:fillRect/>
          </a:stretch>
        </p:blipFill>
        <p:spPr>
          <a:xfrm>
            <a:off x="20" y="10"/>
            <a:ext cx="4653291" cy="6857990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3D1E9D3-FEE1-E580-05AB-1090A431D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290" y="2005739"/>
            <a:ext cx="6015571" cy="41743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In </a:t>
            </a:r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project</a:t>
            </a:r>
            <a:r>
              <a:rPr lang="pl-PL" dirty="0"/>
              <a:t> I </a:t>
            </a:r>
            <a:r>
              <a:rPr lang="pl-PL" dirty="0" err="1"/>
              <a:t>would</a:t>
            </a:r>
            <a:r>
              <a:rPr lang="pl-PL" dirty="0"/>
              <a:t> </a:t>
            </a:r>
            <a:r>
              <a:rPr lang="pl-PL" dirty="0" err="1"/>
              <a:t>like</a:t>
            </a:r>
            <a:r>
              <a:rPr lang="pl-PL" dirty="0"/>
              <a:t> to </a:t>
            </a:r>
            <a:r>
              <a:rPr lang="pl-PL" dirty="0" err="1"/>
              <a:t>compare</a:t>
            </a:r>
            <a:r>
              <a:rPr lang="pl-PL" dirty="0"/>
              <a:t> 3 </a:t>
            </a:r>
            <a:r>
              <a:rPr lang="pl-PL" dirty="0" err="1"/>
              <a:t>training</a:t>
            </a:r>
            <a:r>
              <a:rPr lang="pl-PL" dirty="0"/>
              <a:t> </a:t>
            </a:r>
            <a:r>
              <a:rPr lang="pl-PL" dirty="0" err="1"/>
              <a:t>methods</a:t>
            </a:r>
            <a:r>
              <a:rPr lang="pl-PL" dirty="0"/>
              <a:t> for image </a:t>
            </a:r>
            <a:r>
              <a:rPr lang="pl-PL" dirty="0" err="1"/>
              <a:t>denoising</a:t>
            </a:r>
            <a:r>
              <a:rPr lang="pl-PL" dirty="0"/>
              <a:t> </a:t>
            </a:r>
            <a:r>
              <a:rPr lang="pl-PL" dirty="0" err="1"/>
              <a:t>purposes</a:t>
            </a:r>
            <a:r>
              <a:rPr lang="pl-PL" dirty="0"/>
              <a:t>.</a:t>
            </a:r>
          </a:p>
          <a:p>
            <a:pPr marL="0" indent="0">
              <a:buNone/>
            </a:pPr>
            <a:r>
              <a:rPr lang="pl-PL" b="1" dirty="0" err="1"/>
              <a:t>Methods</a:t>
            </a:r>
            <a:r>
              <a:rPr lang="pl-PL" b="1" dirty="0"/>
              <a:t>:</a:t>
            </a:r>
          </a:p>
          <a:p>
            <a:r>
              <a:rPr lang="pl-PL" b="1" dirty="0" err="1"/>
              <a:t>DnCNN</a:t>
            </a:r>
            <a:r>
              <a:rPr lang="pl-PL" dirty="0"/>
              <a:t> – </a:t>
            </a:r>
            <a:r>
              <a:rPr lang="pl-PL" dirty="0" err="1"/>
              <a:t>Denoising</a:t>
            </a:r>
            <a:r>
              <a:rPr lang="pl-PL" dirty="0"/>
              <a:t> </a:t>
            </a:r>
            <a:r>
              <a:rPr lang="pl-PL" dirty="0" err="1"/>
              <a:t>Convolutional</a:t>
            </a:r>
            <a:r>
              <a:rPr lang="pl-PL" dirty="0"/>
              <a:t> </a:t>
            </a:r>
            <a:r>
              <a:rPr lang="pl-PL" dirty="0" err="1"/>
              <a:t>Neural</a:t>
            </a:r>
            <a:r>
              <a:rPr lang="pl-PL" dirty="0"/>
              <a:t> Network (</a:t>
            </a:r>
            <a:r>
              <a:rPr lang="pl-PL" dirty="0" err="1"/>
              <a:t>Supervised</a:t>
            </a:r>
            <a:r>
              <a:rPr lang="pl-PL" dirty="0"/>
              <a:t>)</a:t>
            </a:r>
          </a:p>
          <a:p>
            <a:r>
              <a:rPr lang="pl-PL" b="1" dirty="0" err="1"/>
              <a:t>FFDNet</a:t>
            </a:r>
            <a:r>
              <a:rPr lang="pl-PL" dirty="0"/>
              <a:t> – Fast and </a:t>
            </a:r>
            <a:r>
              <a:rPr lang="pl-PL" dirty="0" err="1"/>
              <a:t>Flexible</a:t>
            </a:r>
            <a:r>
              <a:rPr lang="pl-PL" dirty="0"/>
              <a:t> </a:t>
            </a:r>
            <a:r>
              <a:rPr lang="pl-PL" dirty="0" err="1"/>
              <a:t>Denoising</a:t>
            </a:r>
            <a:r>
              <a:rPr lang="pl-PL" dirty="0"/>
              <a:t> </a:t>
            </a:r>
            <a:r>
              <a:rPr lang="pl-PL" dirty="0" err="1"/>
              <a:t>Convolutional</a:t>
            </a:r>
            <a:r>
              <a:rPr lang="pl-PL" dirty="0"/>
              <a:t> </a:t>
            </a:r>
            <a:r>
              <a:rPr lang="pl-PL" dirty="0" err="1"/>
              <a:t>Neural</a:t>
            </a:r>
            <a:r>
              <a:rPr lang="pl-PL" dirty="0"/>
              <a:t> Network (</a:t>
            </a:r>
            <a:r>
              <a:rPr lang="pl-PL" dirty="0" err="1"/>
              <a:t>Supervised</a:t>
            </a:r>
            <a:r>
              <a:rPr lang="pl-PL" dirty="0"/>
              <a:t>) </a:t>
            </a:r>
          </a:p>
          <a:p>
            <a:r>
              <a:rPr lang="pl-PL" b="1" dirty="0"/>
              <a:t>Noise2Void </a:t>
            </a:r>
            <a:r>
              <a:rPr lang="pl-PL" dirty="0"/>
              <a:t>(</a:t>
            </a:r>
            <a:r>
              <a:rPr lang="pl-PL" dirty="0" err="1"/>
              <a:t>self-supervised</a:t>
            </a:r>
            <a:r>
              <a:rPr lang="pl-P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40248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107810-7C66-F3B4-1103-3AB2E1C76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pl-PL" dirty="0" err="1"/>
              <a:t>DnCNN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E26F8258-7011-EC32-3B48-F15C8C2AEF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1872" y="1933575"/>
                <a:ext cx="4401509" cy="4246562"/>
              </a:xfrm>
            </p:spPr>
            <p:txBody>
              <a:bodyPr>
                <a:normAutofit/>
              </a:bodyPr>
              <a:lstStyle/>
              <a:p>
                <a:r>
                  <a:rPr lang="pl-PL" b="1" dirty="0"/>
                  <a:t>Residual Learning </a:t>
                </a:r>
                <a:r>
                  <a:rPr lang="pl-PL" dirty="0"/>
                  <a:t>– The Network </a:t>
                </a:r>
                <a:r>
                  <a:rPr lang="pl-PL" dirty="0" err="1"/>
                  <a:t>learns</a:t>
                </a:r>
                <a:r>
                  <a:rPr lang="pl-PL" dirty="0"/>
                  <a:t> </a:t>
                </a:r>
                <a:r>
                  <a:rPr lang="pl-PL" dirty="0" err="1"/>
                  <a:t>predicting</a:t>
                </a:r>
                <a:r>
                  <a:rPr lang="pl-PL" dirty="0"/>
                  <a:t> the </a:t>
                </a:r>
                <a:r>
                  <a:rPr lang="pl-PL" dirty="0" err="1"/>
                  <a:t>noise</a:t>
                </a:r>
                <a:r>
                  <a:rPr lang="pl-PL" dirty="0"/>
                  <a:t> </a:t>
                </a:r>
                <a:r>
                  <a:rPr lang="pl-PL" dirty="0" err="1"/>
                  <a:t>instead</a:t>
                </a:r>
                <a:r>
                  <a:rPr lang="pl-PL" dirty="0"/>
                  <a:t> of </a:t>
                </a:r>
                <a:r>
                  <a:rPr lang="pl-PL" dirty="0" err="1"/>
                  <a:t>clean</a:t>
                </a:r>
                <a:r>
                  <a:rPr lang="pl-PL" dirty="0"/>
                  <a:t> image. </a:t>
                </a:r>
                <a14:m>
                  <m:oMath xmlns:m="http://schemas.openxmlformats.org/officeDocument/2006/math">
                    <m:r>
                      <a:rPr lang="pl-PL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pl-P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l-P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l-PL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l-PL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l-PL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l-PL" dirty="0"/>
                  <a:t> </a:t>
                </a:r>
                <a:r>
                  <a:rPr lang="pl-PL" dirty="0" err="1"/>
                  <a:t>where</a:t>
                </a:r>
                <a:r>
                  <a:rPr lang="pl-PL" dirty="0"/>
                  <a:t> </a:t>
                </a:r>
                <a14:m>
                  <m:oMath xmlns:m="http://schemas.openxmlformats.org/officeDocument/2006/math">
                    <m:r>
                      <a:rPr lang="pl-PL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l-PL" dirty="0"/>
                  <a:t> – </a:t>
                </a:r>
                <a:r>
                  <a:rPr lang="pl-PL" dirty="0" err="1"/>
                  <a:t>noisy</a:t>
                </a:r>
                <a:r>
                  <a:rPr lang="pl-PL" dirty="0"/>
                  <a:t> image, </a:t>
                </a:r>
                <a14:m>
                  <m:oMath xmlns:m="http://schemas.openxmlformats.org/officeDocument/2006/math">
                    <m:r>
                      <a:rPr lang="pl-PL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l-PL" dirty="0"/>
                  <a:t> </a:t>
                </a:r>
                <a:r>
                  <a:rPr lang="pl-PL" dirty="0" err="1"/>
                  <a:t>is</a:t>
                </a:r>
                <a:r>
                  <a:rPr lang="pl-PL" dirty="0"/>
                  <a:t> </a:t>
                </a:r>
                <a:r>
                  <a:rPr lang="pl-PL" dirty="0" err="1"/>
                  <a:t>clean</a:t>
                </a:r>
                <a:r>
                  <a:rPr lang="pl-PL" dirty="0"/>
                  <a:t> image</a:t>
                </a:r>
              </a:p>
              <a:p>
                <a:r>
                  <a:rPr lang="pl-PL" dirty="0"/>
                  <a:t>Input: </a:t>
                </a:r>
                <a:r>
                  <a:rPr lang="pl-PL" dirty="0" err="1"/>
                  <a:t>noisy</a:t>
                </a:r>
                <a:r>
                  <a:rPr lang="pl-PL" dirty="0"/>
                  <a:t> image,</a:t>
                </a:r>
              </a:p>
              <a:p>
                <a:r>
                  <a:rPr lang="pl-PL" dirty="0" err="1"/>
                  <a:t>Output</a:t>
                </a:r>
                <a:r>
                  <a:rPr lang="pl-PL" dirty="0"/>
                  <a:t>: </a:t>
                </a:r>
                <a:r>
                  <a:rPr lang="pl-PL" dirty="0" err="1"/>
                  <a:t>clean</a:t>
                </a:r>
                <a:r>
                  <a:rPr lang="pl-PL" dirty="0"/>
                  <a:t> image</a:t>
                </a:r>
              </a:p>
              <a:p>
                <a:r>
                  <a:rPr lang="pl-PL" dirty="0" err="1"/>
                  <a:t>Deep</a:t>
                </a:r>
                <a:r>
                  <a:rPr lang="pl-PL" dirty="0"/>
                  <a:t> CNN with </a:t>
                </a:r>
                <a:r>
                  <a:rPr lang="pl-PL" dirty="0" err="1"/>
                  <a:t>conv</a:t>
                </a:r>
                <a:r>
                  <a:rPr lang="pl-PL" dirty="0"/>
                  <a:t> </a:t>
                </a:r>
                <a:r>
                  <a:rPr lang="pl-PL" dirty="0" err="1"/>
                  <a:t>layers</a:t>
                </a:r>
                <a:r>
                  <a:rPr lang="pl-PL" dirty="0"/>
                  <a:t>, </a:t>
                </a:r>
                <a:r>
                  <a:rPr lang="pl-PL" dirty="0" err="1"/>
                  <a:t>batch</a:t>
                </a:r>
                <a:r>
                  <a:rPr lang="pl-PL" dirty="0"/>
                  <a:t> </a:t>
                </a:r>
                <a:r>
                  <a:rPr lang="pl-PL" dirty="0" err="1"/>
                  <a:t>normalization</a:t>
                </a:r>
                <a:r>
                  <a:rPr lang="pl-PL" dirty="0"/>
                  <a:t> and </a:t>
                </a:r>
                <a:r>
                  <a:rPr lang="pl-PL" dirty="0" err="1"/>
                  <a:t>ReLU</a:t>
                </a:r>
                <a:endParaRPr lang="pl-PL" dirty="0"/>
              </a:p>
              <a:p>
                <a:r>
                  <a:rPr lang="pl-PL" dirty="0"/>
                  <a:t>No </a:t>
                </a:r>
                <a:r>
                  <a:rPr lang="pl-PL" dirty="0" err="1"/>
                  <a:t>poolings</a:t>
                </a:r>
                <a:endParaRPr lang="pl-PL" dirty="0"/>
              </a:p>
              <a:p>
                <a:r>
                  <a:rPr lang="pl-PL" dirty="0" err="1"/>
                  <a:t>Trained</a:t>
                </a:r>
                <a:r>
                  <a:rPr lang="pl-PL" dirty="0"/>
                  <a:t> </a:t>
                </a:r>
                <a:r>
                  <a:rPr lang="pl-PL" dirty="0" err="1"/>
                  <a:t>only</a:t>
                </a:r>
                <a:r>
                  <a:rPr lang="pl-PL" dirty="0"/>
                  <a:t> for </a:t>
                </a:r>
                <a:r>
                  <a:rPr lang="pl-PL" dirty="0" err="1"/>
                  <a:t>fixed</a:t>
                </a:r>
                <a:r>
                  <a:rPr lang="pl-PL" dirty="0"/>
                  <a:t> </a:t>
                </a:r>
                <a:r>
                  <a:rPr lang="pl-PL" dirty="0" err="1"/>
                  <a:t>noise</a:t>
                </a:r>
                <a:r>
                  <a:rPr lang="pl-PL" dirty="0"/>
                  <a:t> </a:t>
                </a:r>
                <a:r>
                  <a:rPr lang="pl-PL" dirty="0" err="1"/>
                  <a:t>level</a:t>
                </a:r>
                <a:endParaRPr lang="pl-PL" dirty="0"/>
              </a:p>
              <a:p>
                <a:pPr marL="0" indent="0">
                  <a:buNone/>
                </a:pPr>
                <a:endParaRPr lang="pl-PL" dirty="0"/>
              </a:p>
              <a:p>
                <a:endParaRPr lang="pl-PL" dirty="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E26F8258-7011-EC32-3B48-F15C8C2AEF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1872" y="1933575"/>
                <a:ext cx="4401509" cy="4246562"/>
              </a:xfrm>
              <a:blipFill>
                <a:blip r:embed="rId2"/>
                <a:stretch>
                  <a:fillRect l="-277" t="-1004" r="-83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4" name="Picture 6" descr="Architecture for PR filter + DnCNN. Noisy images are filtered by PR... |  Download Scientific Diagram">
            <a:extLst>
              <a:ext uri="{FF2B5EF4-FFF2-40B4-BE49-F238E27FC236}">
                <a16:creationId xmlns:a16="http://schemas.microsoft.com/office/drawing/2014/main" id="{90908121-52E2-15D5-5A22-9CF5B2AF3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2500789"/>
            <a:ext cx="4807287" cy="250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875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E54C2B9-E5C3-97B7-953C-507F260BB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DnCNN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198C677-67E7-9B1A-4F23-B4FF7106B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/>
              <a:t>PROS</a:t>
            </a:r>
          </a:p>
          <a:p>
            <a:pPr lvl="1"/>
            <a:r>
              <a:rPr lang="pl-PL" dirty="0" err="1"/>
              <a:t>Can</a:t>
            </a:r>
            <a:r>
              <a:rPr lang="pl-PL" dirty="0"/>
              <a:t> be </a:t>
            </a:r>
            <a:r>
              <a:rPr lang="pl-PL" dirty="0" err="1"/>
              <a:t>used</a:t>
            </a:r>
            <a:r>
              <a:rPr lang="pl-PL" dirty="0"/>
              <a:t> </a:t>
            </a:r>
            <a:r>
              <a:rPr lang="pl-PL" dirty="0" err="1"/>
              <a:t>both</a:t>
            </a:r>
            <a:r>
              <a:rPr lang="pl-PL" dirty="0"/>
              <a:t> for </a:t>
            </a:r>
            <a:r>
              <a:rPr lang="pl-PL" dirty="0" err="1"/>
              <a:t>known</a:t>
            </a:r>
            <a:r>
              <a:rPr lang="pl-PL" dirty="0"/>
              <a:t> </a:t>
            </a:r>
            <a:r>
              <a:rPr lang="pl-PL" dirty="0" err="1"/>
              <a:t>gaussian</a:t>
            </a:r>
            <a:r>
              <a:rPr lang="pl-PL" dirty="0"/>
              <a:t> </a:t>
            </a:r>
            <a:r>
              <a:rPr lang="pl-PL" dirty="0" err="1"/>
              <a:t>noise</a:t>
            </a:r>
            <a:r>
              <a:rPr lang="pl-PL" dirty="0"/>
              <a:t> </a:t>
            </a:r>
            <a:r>
              <a:rPr lang="pl-PL" dirty="0" err="1"/>
              <a:t>levels</a:t>
            </a:r>
            <a:r>
              <a:rPr lang="pl-PL" dirty="0"/>
              <a:t> and </a:t>
            </a:r>
            <a:r>
              <a:rPr lang="pl-PL" dirty="0" err="1"/>
              <a:t>unknown</a:t>
            </a:r>
            <a:r>
              <a:rPr lang="pl-PL" dirty="0"/>
              <a:t> </a:t>
            </a:r>
            <a:r>
              <a:rPr lang="pl-PL" dirty="0" err="1"/>
              <a:t>noise</a:t>
            </a:r>
            <a:r>
              <a:rPr lang="pl-PL" dirty="0"/>
              <a:t> </a:t>
            </a:r>
            <a:r>
              <a:rPr lang="pl-PL" dirty="0" err="1"/>
              <a:t>levels</a:t>
            </a:r>
            <a:endParaRPr lang="pl-PL" dirty="0"/>
          </a:p>
          <a:p>
            <a:pPr lvl="1"/>
            <a:r>
              <a:rPr lang="pl-PL" dirty="0" err="1"/>
              <a:t>It’s</a:t>
            </a:r>
            <a:r>
              <a:rPr lang="pl-PL" dirty="0"/>
              <a:t> </a:t>
            </a:r>
            <a:r>
              <a:rPr lang="pl-PL" dirty="0" err="1"/>
              <a:t>better</a:t>
            </a:r>
            <a:r>
              <a:rPr lang="pl-PL" dirty="0"/>
              <a:t> </a:t>
            </a:r>
            <a:r>
              <a:rPr lang="pl-PL" dirty="0" err="1"/>
              <a:t>than</a:t>
            </a:r>
            <a:r>
              <a:rPr lang="pl-PL" dirty="0"/>
              <a:t> BM3D in PSNR and SSIM </a:t>
            </a:r>
            <a:r>
              <a:rPr lang="pl-PL" dirty="0" err="1"/>
              <a:t>metrics</a:t>
            </a:r>
            <a:endParaRPr lang="pl-PL" dirty="0"/>
          </a:p>
          <a:p>
            <a:pPr lvl="1"/>
            <a:r>
              <a:rPr lang="pl-PL" dirty="0" err="1"/>
              <a:t>Can</a:t>
            </a:r>
            <a:r>
              <a:rPr lang="pl-PL" dirty="0"/>
              <a:t> be </a:t>
            </a:r>
            <a:r>
              <a:rPr lang="pl-PL" dirty="0" err="1"/>
              <a:t>used</a:t>
            </a:r>
            <a:r>
              <a:rPr lang="pl-PL" dirty="0"/>
              <a:t> for </a:t>
            </a:r>
            <a:r>
              <a:rPr lang="pl-PL" dirty="0" err="1"/>
              <a:t>Gaussian</a:t>
            </a:r>
            <a:r>
              <a:rPr lang="pl-PL" dirty="0"/>
              <a:t> </a:t>
            </a:r>
            <a:r>
              <a:rPr lang="pl-PL" dirty="0" err="1"/>
              <a:t>Denoising</a:t>
            </a:r>
            <a:r>
              <a:rPr lang="pl-PL" dirty="0"/>
              <a:t>, Single Image Super-Resolution and JPEG Image </a:t>
            </a:r>
            <a:r>
              <a:rPr lang="pl-PL" dirty="0" err="1"/>
              <a:t>Deblocking</a:t>
            </a:r>
            <a:endParaRPr lang="pl-PL" dirty="0"/>
          </a:p>
          <a:p>
            <a:pPr lvl="1"/>
            <a:r>
              <a:rPr lang="pl-PL" dirty="0"/>
              <a:t>Image with </a:t>
            </a:r>
            <a:r>
              <a:rPr lang="pl-PL" dirty="0" err="1"/>
              <a:t>different</a:t>
            </a:r>
            <a:r>
              <a:rPr lang="pl-PL" dirty="0"/>
              <a:t> </a:t>
            </a:r>
            <a:r>
              <a:rPr lang="pl-PL" dirty="0" err="1"/>
              <a:t>type</a:t>
            </a:r>
            <a:r>
              <a:rPr lang="pl-PL" dirty="0"/>
              <a:t> of </a:t>
            </a:r>
            <a:r>
              <a:rPr lang="pl-PL" dirty="0" err="1"/>
              <a:t>noises</a:t>
            </a:r>
            <a:r>
              <a:rPr lang="pl-PL" dirty="0"/>
              <a:t> </a:t>
            </a:r>
            <a:r>
              <a:rPr lang="pl-PL" dirty="0" err="1"/>
              <a:t>can</a:t>
            </a:r>
            <a:r>
              <a:rPr lang="pl-PL" dirty="0"/>
              <a:t> be </a:t>
            </a:r>
            <a:r>
              <a:rPr lang="pl-PL" dirty="0" err="1"/>
              <a:t>denoised</a:t>
            </a:r>
            <a:r>
              <a:rPr lang="pl-PL" dirty="0"/>
              <a:t> with </a:t>
            </a:r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method</a:t>
            </a:r>
            <a:endParaRPr lang="pl-PL" dirty="0"/>
          </a:p>
          <a:p>
            <a:r>
              <a:rPr lang="pl-PL" b="1" dirty="0"/>
              <a:t>CONS</a:t>
            </a:r>
          </a:p>
          <a:p>
            <a:pPr lvl="1"/>
            <a:r>
              <a:rPr lang="pl-PL" dirty="0" err="1"/>
              <a:t>Need</a:t>
            </a:r>
            <a:r>
              <a:rPr lang="pl-PL" dirty="0"/>
              <a:t> for model </a:t>
            </a:r>
            <a:r>
              <a:rPr lang="pl-PL" dirty="0" err="1"/>
              <a:t>training</a:t>
            </a:r>
            <a:r>
              <a:rPr lang="pl-PL" dirty="0"/>
              <a:t> for </a:t>
            </a:r>
            <a:r>
              <a:rPr lang="pl-PL" dirty="0" err="1"/>
              <a:t>different</a:t>
            </a:r>
            <a:r>
              <a:rPr lang="pl-PL" dirty="0"/>
              <a:t> </a:t>
            </a:r>
            <a:r>
              <a:rPr lang="pl-PL" dirty="0" err="1"/>
              <a:t>noise</a:t>
            </a:r>
            <a:r>
              <a:rPr lang="pl-PL" dirty="0"/>
              <a:t> </a:t>
            </a:r>
            <a:r>
              <a:rPr lang="pl-PL" dirty="0" err="1"/>
              <a:t>levels</a:t>
            </a:r>
            <a:endParaRPr lang="pl-PL" dirty="0"/>
          </a:p>
          <a:p>
            <a:pPr lvl="1"/>
            <a:r>
              <a:rPr lang="pl-PL" dirty="0" err="1"/>
              <a:t>Is</a:t>
            </a:r>
            <a:r>
              <a:rPr lang="pl-PL" dirty="0"/>
              <a:t> a </a:t>
            </a:r>
            <a:r>
              <a:rPr lang="pl-PL" dirty="0" err="1"/>
              <a:t>little</a:t>
            </a:r>
            <a:r>
              <a:rPr lang="pl-PL" dirty="0"/>
              <a:t> bit </a:t>
            </a:r>
            <a:r>
              <a:rPr lang="pl-PL" dirty="0" err="1"/>
              <a:t>slower</a:t>
            </a:r>
            <a:r>
              <a:rPr lang="pl-PL" dirty="0"/>
              <a:t> </a:t>
            </a:r>
            <a:r>
              <a:rPr lang="pl-PL" dirty="0" err="1"/>
              <a:t>than</a:t>
            </a:r>
            <a:r>
              <a:rPr lang="pl-PL" dirty="0"/>
              <a:t> BM3D</a:t>
            </a:r>
          </a:p>
          <a:p>
            <a:pPr lvl="1"/>
            <a:r>
              <a:rPr lang="pl-PL" dirty="0"/>
              <a:t>It </a:t>
            </a:r>
            <a:r>
              <a:rPr lang="pl-PL" dirty="0" err="1"/>
              <a:t>needs</a:t>
            </a:r>
            <a:r>
              <a:rPr lang="pl-PL" dirty="0"/>
              <a:t> </a:t>
            </a:r>
            <a:r>
              <a:rPr lang="pl-PL" dirty="0" err="1"/>
              <a:t>noisy-clean</a:t>
            </a:r>
            <a:r>
              <a:rPr lang="pl-PL" dirty="0"/>
              <a:t> image </a:t>
            </a:r>
            <a:r>
              <a:rPr lang="pl-PL" dirty="0" err="1"/>
              <a:t>pairs</a:t>
            </a: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C1BF6E0-265C-D424-6EAD-87C1C9C1B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265" y="227212"/>
            <a:ext cx="7128681" cy="1821034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500EEF63-8F32-EEDA-9DBB-48E3A7F98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5484580"/>
            <a:ext cx="95250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046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B239B9-E71E-BB88-5835-9E89AD745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FFDNet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8AFF3E6F-AF96-491B-B832-D365F931A3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8222" y="1828800"/>
                <a:ext cx="8595360" cy="4351337"/>
              </a:xfrm>
            </p:spPr>
            <p:txBody>
              <a:bodyPr/>
              <a:lstStyle/>
              <a:p>
                <a:r>
                  <a:rPr lang="pl-PL" dirty="0"/>
                  <a:t>Input: </a:t>
                </a:r>
                <a:r>
                  <a:rPr lang="pl-PL" dirty="0" err="1"/>
                  <a:t>Noisy</a:t>
                </a:r>
                <a:r>
                  <a:rPr lang="pl-PL" dirty="0"/>
                  <a:t> image + </a:t>
                </a:r>
                <a:r>
                  <a:rPr lang="pl-PL" dirty="0" err="1"/>
                  <a:t>noise</a:t>
                </a:r>
                <a:r>
                  <a:rPr lang="pl-PL" dirty="0"/>
                  <a:t> </a:t>
                </a:r>
                <a:r>
                  <a:rPr lang="pl-PL" dirty="0" err="1"/>
                  <a:t>level</a:t>
                </a:r>
                <a:r>
                  <a:rPr lang="pl-PL" dirty="0"/>
                  <a:t> map</a:t>
                </a:r>
              </a:p>
              <a:p>
                <a:r>
                  <a:rPr lang="pl-PL" dirty="0"/>
                  <a:t>Works on </a:t>
                </a:r>
                <a:r>
                  <a:rPr lang="pl-PL" dirty="0" err="1"/>
                  <a:t>downsampled</a:t>
                </a:r>
                <a:r>
                  <a:rPr lang="pl-PL" dirty="0"/>
                  <a:t> </a:t>
                </a:r>
                <a:r>
                  <a:rPr lang="pl-PL" dirty="0" err="1"/>
                  <a:t>sub-images</a:t>
                </a:r>
                <a:endParaRPr lang="pl-PL" dirty="0"/>
              </a:p>
              <a:p>
                <a:pPr lvl="1"/>
                <a:r>
                  <a:rPr lang="pl-PL" dirty="0"/>
                  <a:t>For image: </a:t>
                </a:r>
                <a14:m>
                  <m:oMath xmlns:m="http://schemas.openxmlformats.org/officeDocument/2006/math">
                    <m:r>
                      <a:rPr lang="pl-PL" i="1" dirty="0" smtClean="0">
                        <a:latin typeface="Cambria Math" panose="02040503050406030204" pitchFamily="18" charset="0"/>
                      </a:rPr>
                      <m:t>𝑊𝑖𝑑𝑡h</m:t>
                    </m:r>
                    <m:r>
                      <a:rPr lang="pl-PL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l-PL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i="1" dirty="0" err="1" smtClean="0">
                        <a:latin typeface="Cambria Math" panose="02040503050406030204" pitchFamily="18" charset="0"/>
                      </a:rPr>
                      <m:t>𝐻𝑒𝑖𝑔h𝑡</m:t>
                    </m:r>
                    <m:r>
                      <a:rPr lang="pl-PL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l-PL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i="1" dirty="0" smtClean="0">
                        <a:latin typeface="Cambria Math" panose="02040503050406030204" pitchFamily="18" charset="0"/>
                      </a:rPr>
                      <m:t>𝐶h𝑎𝑛𝑛𝑒</m:t>
                    </m:r>
                    <m:r>
                      <a:rPr lang="pl-PL" i="1" dirty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pl-PL" i="1" dirty="0">
                  <a:latin typeface="Cambria Math" panose="02040503050406030204" pitchFamily="18" charset="0"/>
                </a:endParaRPr>
              </a:p>
              <a:p>
                <a:pPr lvl="2"/>
                <a:r>
                  <a:rPr lang="pl-PL" dirty="0" err="1"/>
                  <a:t>After</a:t>
                </a:r>
                <a:r>
                  <a:rPr lang="pl-PL" dirty="0"/>
                  <a:t> </a:t>
                </a:r>
                <a:r>
                  <a:rPr lang="pl-PL" dirty="0" err="1"/>
                  <a:t>downsampling</a:t>
                </a:r>
                <a:r>
                  <a:rPr lang="pl-PL" dirty="0"/>
                  <a:t> we </a:t>
                </a:r>
                <a:r>
                  <a:rPr lang="pl-PL" dirty="0" err="1"/>
                  <a:t>got</a:t>
                </a:r>
                <a:r>
                  <a:rPr lang="pl-PL" dirty="0"/>
                  <a:t> 4 </a:t>
                </a:r>
                <a:r>
                  <a:rPr lang="pl-PL" dirty="0" err="1"/>
                  <a:t>Sub</a:t>
                </a:r>
                <a:r>
                  <a:rPr lang="pl-PL" dirty="0"/>
                  <a:t>-image: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l-PL" b="0" i="0" dirty="0" smtClean="0">
                            <a:latin typeface="Cambria Math" panose="02040503050406030204" pitchFamily="18" charset="0"/>
                          </a:rPr>
                          <m:t>Width</m:t>
                        </m:r>
                      </m:num>
                      <m:den>
                        <m:r>
                          <a:rPr lang="pl-PL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l-PL" b="0" i="1" dirty="0" smtClean="0"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ctrlPr>
                          <a:rPr lang="pl-PL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l-PL" b="0" i="1" dirty="0" smtClean="0">
                            <a:latin typeface="Cambria Math" panose="02040503050406030204" pitchFamily="18" charset="0"/>
                          </a:rPr>
                          <m:t>𝐻𝑒𝑖𝑔h𝑡</m:t>
                        </m:r>
                      </m:num>
                      <m:den>
                        <m:r>
                          <a:rPr lang="pl-PL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l-PL" b="0" i="1" dirty="0" smtClean="0">
                        <a:latin typeface="Cambria Math" panose="02040503050406030204" pitchFamily="18" charset="0"/>
                      </a:rPr>
                      <m:t>∗4∗</m:t>
                    </m:r>
                    <m:r>
                      <a:rPr lang="pl-PL" b="0" i="1" dirty="0" smtClean="0">
                        <a:latin typeface="Cambria Math" panose="02040503050406030204" pitchFamily="18" charset="0"/>
                      </a:rPr>
                      <m:t>𝐶h𝑎𝑛𝑛𝑒𝑙</m:t>
                    </m:r>
                  </m:oMath>
                </a14:m>
                <a:endParaRPr lang="pl-PL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pl-PL" dirty="0" err="1"/>
                  <a:t>Downampled</a:t>
                </a:r>
                <a:r>
                  <a:rPr lang="pl-PL" dirty="0"/>
                  <a:t> </a:t>
                </a:r>
                <a:r>
                  <a:rPr lang="pl-PL" dirty="0" err="1"/>
                  <a:t>sub-images</a:t>
                </a:r>
                <a:r>
                  <a:rPr lang="pl-PL" dirty="0"/>
                  <a:t> </a:t>
                </a:r>
                <a:r>
                  <a:rPr lang="pl-PL" dirty="0" err="1"/>
                  <a:t>are</a:t>
                </a:r>
                <a:r>
                  <a:rPr lang="pl-PL" dirty="0"/>
                  <a:t> </a:t>
                </a:r>
                <a:r>
                  <a:rPr lang="pl-PL" dirty="0" err="1"/>
                  <a:t>concatenated</a:t>
                </a:r>
                <a:r>
                  <a:rPr lang="pl-PL" dirty="0"/>
                  <a:t> </a:t>
                </a:r>
                <a:r>
                  <a:rPr lang="pl-PL" dirty="0" err="1"/>
                  <a:t>wit</a:t>
                </a:r>
                <a:r>
                  <a:rPr lang="pl-PL" dirty="0"/>
                  <a:t> </a:t>
                </a:r>
                <a:r>
                  <a:rPr lang="pl-PL" dirty="0" err="1"/>
                  <a:t>noise</a:t>
                </a:r>
                <a:r>
                  <a:rPr lang="pl-PL" dirty="0"/>
                  <a:t> </a:t>
                </a:r>
                <a:r>
                  <a:rPr lang="pl-PL" dirty="0" err="1"/>
                  <a:t>level</a:t>
                </a:r>
                <a:r>
                  <a:rPr lang="pl-PL" dirty="0"/>
                  <a:t> map</a:t>
                </a:r>
                <a:endParaRPr lang="pl-PL" i="1" dirty="0">
                  <a:latin typeface="Cambria Math" panose="02040503050406030204" pitchFamily="18" charset="0"/>
                </a:endParaRPr>
              </a:p>
              <a:p>
                <a:r>
                  <a:rPr lang="pl-PL" dirty="0" err="1">
                    <a:latin typeface="Cambria Math" panose="02040503050406030204" pitchFamily="18" charset="0"/>
                  </a:rPr>
                  <a:t>After</a:t>
                </a:r>
                <a:r>
                  <a:rPr lang="pl-PL" dirty="0">
                    <a:latin typeface="Cambria Math" panose="02040503050406030204" pitchFamily="18" charset="0"/>
                  </a:rPr>
                  <a:t> </a:t>
                </a:r>
                <a:r>
                  <a:rPr lang="pl-PL" dirty="0" err="1">
                    <a:latin typeface="Cambria Math" panose="02040503050406030204" pitchFamily="18" charset="0"/>
                  </a:rPr>
                  <a:t>last</a:t>
                </a:r>
                <a:r>
                  <a:rPr lang="pl-PL" dirty="0">
                    <a:latin typeface="Cambria Math" panose="02040503050406030204" pitchFamily="18" charset="0"/>
                  </a:rPr>
                  <a:t> </a:t>
                </a:r>
                <a:r>
                  <a:rPr lang="pl-PL" dirty="0" err="1">
                    <a:latin typeface="Cambria Math" panose="02040503050406030204" pitchFamily="18" charset="0"/>
                  </a:rPr>
                  <a:t>convolutional</a:t>
                </a:r>
                <a:r>
                  <a:rPr lang="pl-PL" dirty="0">
                    <a:latin typeface="Cambria Math" panose="02040503050406030204" pitchFamily="18" charset="0"/>
                  </a:rPr>
                  <a:t> </a:t>
                </a:r>
                <a:r>
                  <a:rPr lang="pl-PL" dirty="0" err="1">
                    <a:latin typeface="Cambria Math" panose="02040503050406030204" pitchFamily="18" charset="0"/>
                  </a:rPr>
                  <a:t>layer</a:t>
                </a:r>
                <a:r>
                  <a:rPr lang="pl-PL" dirty="0">
                    <a:latin typeface="Cambria Math" panose="02040503050406030204" pitchFamily="18" charset="0"/>
                  </a:rPr>
                  <a:t>, </a:t>
                </a:r>
                <a:r>
                  <a:rPr lang="pl-PL" dirty="0" err="1">
                    <a:latin typeface="Cambria Math" panose="02040503050406030204" pitchFamily="18" charset="0"/>
                  </a:rPr>
                  <a:t>an</a:t>
                </a:r>
                <a:r>
                  <a:rPr lang="pl-PL" dirty="0">
                    <a:latin typeface="Cambria Math" panose="02040503050406030204" pitchFamily="18" charset="0"/>
                  </a:rPr>
                  <a:t> </a:t>
                </a:r>
                <a:r>
                  <a:rPr lang="pl-PL" dirty="0" err="1">
                    <a:latin typeface="Cambria Math" panose="02040503050406030204" pitchFamily="18" charset="0"/>
                  </a:rPr>
                  <a:t>upscaling</a:t>
                </a:r>
                <a:r>
                  <a:rPr lang="pl-PL" dirty="0">
                    <a:latin typeface="Cambria Math" panose="02040503050406030204" pitchFamily="18" charset="0"/>
                  </a:rPr>
                  <a:t> </a:t>
                </a:r>
                <a:r>
                  <a:rPr lang="pl-PL" dirty="0" err="1">
                    <a:latin typeface="Cambria Math" panose="02040503050406030204" pitchFamily="18" charset="0"/>
                  </a:rPr>
                  <a:t>operation</a:t>
                </a:r>
                <a:r>
                  <a:rPr lang="pl-PL" dirty="0">
                    <a:latin typeface="Cambria Math" panose="02040503050406030204" pitchFamily="18" charset="0"/>
                  </a:rPr>
                  <a:t> </a:t>
                </a:r>
                <a:r>
                  <a:rPr lang="pl-PL" dirty="0" err="1">
                    <a:latin typeface="Cambria Math" panose="02040503050406030204" pitchFamily="18" charset="0"/>
                  </a:rPr>
                  <a:t>is</a:t>
                </a:r>
                <a:r>
                  <a:rPr lang="pl-PL" dirty="0">
                    <a:latin typeface="Cambria Math" panose="02040503050406030204" pitchFamily="18" charset="0"/>
                  </a:rPr>
                  <a:t> applied to </a:t>
                </a:r>
                <a:r>
                  <a:rPr lang="pl-PL" dirty="0" err="1">
                    <a:latin typeface="Cambria Math" panose="02040503050406030204" pitchFamily="18" charset="0"/>
                  </a:rPr>
                  <a:t>produce</a:t>
                </a:r>
                <a:r>
                  <a:rPr lang="pl-PL" dirty="0">
                    <a:latin typeface="Cambria Math" panose="02040503050406030204" pitchFamily="18" charset="0"/>
                  </a:rPr>
                  <a:t> the </a:t>
                </a:r>
                <a:r>
                  <a:rPr lang="pl-PL" dirty="0" err="1">
                    <a:latin typeface="Cambria Math" panose="02040503050406030204" pitchFamily="18" charset="0"/>
                  </a:rPr>
                  <a:t>estimated</a:t>
                </a:r>
                <a:r>
                  <a:rPr lang="pl-PL" dirty="0">
                    <a:latin typeface="Cambria Math" panose="02040503050406030204" pitchFamily="18" charset="0"/>
                  </a:rPr>
                  <a:t> </a:t>
                </a:r>
                <a:r>
                  <a:rPr lang="pl-PL" dirty="0" err="1">
                    <a:latin typeface="Cambria Math" panose="02040503050406030204" pitchFamily="18" charset="0"/>
                  </a:rPr>
                  <a:t>clean</a:t>
                </a:r>
                <a:r>
                  <a:rPr lang="pl-PL" dirty="0">
                    <a:latin typeface="Cambria Math" panose="02040503050406030204" pitchFamily="18" charset="0"/>
                  </a:rPr>
                  <a:t> image</a:t>
                </a:r>
              </a:p>
              <a:p>
                <a:r>
                  <a:rPr lang="pl-PL" dirty="0"/>
                  <a:t>For </a:t>
                </a:r>
                <a:r>
                  <a:rPr lang="pl-PL" dirty="0" err="1"/>
                  <a:t>more</a:t>
                </a:r>
                <a:r>
                  <a:rPr lang="pl-PL" dirty="0"/>
                  <a:t> </a:t>
                </a:r>
                <a:r>
                  <a:rPr lang="pl-PL" dirty="0" err="1"/>
                  <a:t>stable</a:t>
                </a:r>
                <a:r>
                  <a:rPr lang="pl-PL" dirty="0"/>
                  <a:t> </a:t>
                </a:r>
                <a:r>
                  <a:rPr lang="pl-PL" dirty="0" err="1"/>
                  <a:t>training</a:t>
                </a:r>
                <a:r>
                  <a:rPr lang="pl-PL" dirty="0"/>
                  <a:t> the </a:t>
                </a:r>
                <a:r>
                  <a:rPr lang="pl-PL" dirty="0" err="1"/>
                  <a:t>Orthogonal</a:t>
                </a:r>
                <a:r>
                  <a:rPr lang="pl-PL" dirty="0"/>
                  <a:t> </a:t>
                </a:r>
                <a:r>
                  <a:rPr lang="pl-PL" dirty="0" err="1"/>
                  <a:t>Initialization</a:t>
                </a:r>
                <a:r>
                  <a:rPr lang="pl-PL" dirty="0"/>
                  <a:t> </a:t>
                </a:r>
                <a:r>
                  <a:rPr lang="pl-PL" dirty="0" err="1"/>
                  <a:t>method</a:t>
                </a:r>
                <a:r>
                  <a:rPr lang="pl-PL" dirty="0"/>
                  <a:t> </a:t>
                </a:r>
                <a:r>
                  <a:rPr lang="pl-PL" dirty="0" err="1"/>
                  <a:t>is</a:t>
                </a:r>
                <a:r>
                  <a:rPr lang="pl-PL" dirty="0"/>
                  <a:t> </a:t>
                </a:r>
                <a:r>
                  <a:rPr lang="pl-PL" dirty="0" err="1"/>
                  <a:t>added</a:t>
                </a:r>
                <a:r>
                  <a:rPr lang="pl-PL" dirty="0"/>
                  <a:t> do </a:t>
                </a:r>
                <a:r>
                  <a:rPr lang="pl-PL" dirty="0" err="1"/>
                  <a:t>convolution</a:t>
                </a:r>
                <a:r>
                  <a:rPr lang="pl-PL" dirty="0"/>
                  <a:t> </a:t>
                </a:r>
                <a:r>
                  <a:rPr lang="pl-PL" dirty="0" err="1"/>
                  <a:t>filters</a:t>
                </a:r>
                <a:endParaRPr lang="pl-PL" dirty="0"/>
              </a:p>
              <a:p>
                <a:endParaRPr lang="pl-PL" dirty="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8AFF3E6F-AF96-491B-B832-D365F931A3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8222" y="1828800"/>
                <a:ext cx="8595360" cy="4351337"/>
              </a:xfrm>
              <a:blipFill>
                <a:blip r:embed="rId2"/>
                <a:stretch>
                  <a:fillRect l="-142" t="-98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The architecture of FFDNet for image denoising. | Download Scientific  Diagram">
            <a:extLst>
              <a:ext uri="{FF2B5EF4-FFF2-40B4-BE49-F238E27FC236}">
                <a16:creationId xmlns:a16="http://schemas.microsoft.com/office/drawing/2014/main" id="{16BB4CF2-CF0B-FA39-7A72-41ADE877B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777" y="5145088"/>
            <a:ext cx="8096250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omparison of network architectures between DnCNN and FFDNet. | Download  Scientific Diagram">
            <a:extLst>
              <a:ext uri="{FF2B5EF4-FFF2-40B4-BE49-F238E27FC236}">
                <a16:creationId xmlns:a16="http://schemas.microsoft.com/office/drawing/2014/main" id="{49219418-30BF-D395-0189-D8B07F68F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902" y="514230"/>
            <a:ext cx="5542477" cy="1708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764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66E24C4-93F4-AC78-FCEA-9C760A45C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640081"/>
            <a:ext cx="4954920" cy="1606948"/>
          </a:xfrm>
        </p:spPr>
        <p:txBody>
          <a:bodyPr>
            <a:normAutofit/>
          </a:bodyPr>
          <a:lstStyle/>
          <a:p>
            <a:r>
              <a:rPr lang="pl-PL" dirty="0" err="1"/>
              <a:t>FFDNet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64C5544-17D6-6B89-A2A3-58B8395B5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560106"/>
            <a:ext cx="4954920" cy="3724805"/>
          </a:xfrm>
        </p:spPr>
        <p:txBody>
          <a:bodyPr>
            <a:normAutofit/>
          </a:bodyPr>
          <a:lstStyle/>
          <a:p>
            <a:r>
              <a:rPr lang="pl-PL" b="1" dirty="0"/>
              <a:t>PROS</a:t>
            </a:r>
          </a:p>
          <a:p>
            <a:pPr lvl="1"/>
            <a:r>
              <a:rPr lang="pl-PL" dirty="0"/>
              <a:t>Has </a:t>
            </a:r>
            <a:r>
              <a:rPr lang="pl-PL" dirty="0" err="1"/>
              <a:t>ability</a:t>
            </a:r>
            <a:r>
              <a:rPr lang="pl-PL" dirty="0"/>
              <a:t> to handle a </a:t>
            </a:r>
            <a:r>
              <a:rPr lang="pl-PL" dirty="0" err="1"/>
              <a:t>wide</a:t>
            </a:r>
            <a:r>
              <a:rPr lang="pl-PL" dirty="0"/>
              <a:t> </a:t>
            </a:r>
            <a:r>
              <a:rPr lang="pl-PL" dirty="0" err="1"/>
              <a:t>range</a:t>
            </a:r>
            <a:r>
              <a:rPr lang="pl-PL" dirty="0"/>
              <a:t> of </a:t>
            </a:r>
            <a:r>
              <a:rPr lang="pl-PL" dirty="0" err="1"/>
              <a:t>noise</a:t>
            </a:r>
            <a:r>
              <a:rPr lang="pl-PL" dirty="0"/>
              <a:t> </a:t>
            </a:r>
            <a:r>
              <a:rPr lang="pl-PL" dirty="0" err="1"/>
              <a:t>levels</a:t>
            </a:r>
            <a:endParaRPr lang="pl-PL" dirty="0"/>
          </a:p>
          <a:p>
            <a:pPr lvl="1"/>
            <a:r>
              <a:rPr lang="pl-PL" dirty="0" err="1"/>
              <a:t>Faster</a:t>
            </a:r>
            <a:r>
              <a:rPr lang="pl-PL" dirty="0"/>
              <a:t> </a:t>
            </a:r>
            <a:r>
              <a:rPr lang="pl-PL" dirty="0" err="1"/>
              <a:t>than</a:t>
            </a:r>
            <a:r>
              <a:rPr lang="pl-PL" dirty="0"/>
              <a:t> </a:t>
            </a:r>
            <a:r>
              <a:rPr lang="pl-PL" dirty="0" err="1"/>
              <a:t>DnCNN</a:t>
            </a:r>
            <a:r>
              <a:rPr lang="pl-PL" dirty="0"/>
              <a:t> </a:t>
            </a:r>
            <a:r>
              <a:rPr lang="pl-PL" dirty="0" err="1"/>
              <a:t>due</a:t>
            </a:r>
            <a:r>
              <a:rPr lang="pl-PL" dirty="0"/>
              <a:t> to image </a:t>
            </a:r>
            <a:r>
              <a:rPr lang="pl-PL" dirty="0" err="1"/>
              <a:t>downsampling</a:t>
            </a:r>
            <a:endParaRPr lang="pl-PL" dirty="0"/>
          </a:p>
          <a:p>
            <a:pPr lvl="1"/>
            <a:r>
              <a:rPr lang="pl-PL" dirty="0" err="1"/>
              <a:t>Can</a:t>
            </a:r>
            <a:r>
              <a:rPr lang="pl-PL" dirty="0"/>
              <a:t> </a:t>
            </a:r>
            <a:r>
              <a:rPr lang="pl-PL" dirty="0" err="1"/>
              <a:t>remove</a:t>
            </a:r>
            <a:r>
              <a:rPr lang="pl-PL" dirty="0"/>
              <a:t> </a:t>
            </a:r>
            <a:r>
              <a:rPr lang="pl-PL" dirty="0" err="1"/>
              <a:t>spatially</a:t>
            </a:r>
            <a:r>
              <a:rPr lang="pl-PL" dirty="0"/>
              <a:t> </a:t>
            </a:r>
            <a:r>
              <a:rPr lang="pl-PL" dirty="0" err="1"/>
              <a:t>variant</a:t>
            </a:r>
            <a:r>
              <a:rPr lang="pl-PL" dirty="0"/>
              <a:t> </a:t>
            </a:r>
            <a:r>
              <a:rPr lang="pl-PL" dirty="0" err="1"/>
              <a:t>noise</a:t>
            </a:r>
            <a:endParaRPr lang="pl-PL" dirty="0"/>
          </a:p>
          <a:p>
            <a:r>
              <a:rPr lang="pl-PL" b="1" dirty="0"/>
              <a:t>CONS</a:t>
            </a:r>
          </a:p>
          <a:p>
            <a:pPr lvl="1"/>
            <a:r>
              <a:rPr lang="pl-PL" dirty="0" err="1"/>
              <a:t>Need</a:t>
            </a:r>
            <a:r>
              <a:rPr lang="pl-PL" dirty="0"/>
              <a:t> </a:t>
            </a:r>
            <a:r>
              <a:rPr lang="pl-PL" dirty="0" err="1"/>
              <a:t>noisy-clean</a:t>
            </a:r>
            <a:r>
              <a:rPr lang="pl-PL" dirty="0"/>
              <a:t> image </a:t>
            </a:r>
            <a:r>
              <a:rPr lang="pl-PL" dirty="0" err="1"/>
              <a:t>pairs</a:t>
            </a:r>
            <a:endParaRPr lang="pl-PL" dirty="0"/>
          </a:p>
          <a:p>
            <a:pPr lvl="1"/>
            <a:r>
              <a:rPr lang="pl-PL" dirty="0"/>
              <a:t>Lower </a:t>
            </a:r>
            <a:r>
              <a:rPr lang="pl-PL" dirty="0" err="1"/>
              <a:t>accuracy</a:t>
            </a:r>
            <a:r>
              <a:rPr lang="pl-PL" dirty="0"/>
              <a:t> </a:t>
            </a:r>
            <a:r>
              <a:rPr lang="pl-PL" dirty="0" err="1"/>
              <a:t>than</a:t>
            </a:r>
            <a:r>
              <a:rPr lang="pl-PL" dirty="0"/>
              <a:t> </a:t>
            </a:r>
            <a:r>
              <a:rPr lang="pl-PL" dirty="0" err="1"/>
              <a:t>DnCNN</a:t>
            </a:r>
            <a:endParaRPr lang="pl-PL" dirty="0"/>
          </a:p>
          <a:p>
            <a:pPr lvl="1"/>
            <a:r>
              <a:rPr lang="pl-PL" dirty="0" err="1"/>
              <a:t>Depentent</a:t>
            </a:r>
            <a:r>
              <a:rPr lang="pl-PL" dirty="0"/>
              <a:t> of </a:t>
            </a:r>
            <a:r>
              <a:rPr lang="pl-PL" dirty="0" err="1"/>
              <a:t>properly</a:t>
            </a:r>
            <a:r>
              <a:rPr lang="pl-PL" dirty="0"/>
              <a:t> </a:t>
            </a:r>
            <a:r>
              <a:rPr lang="pl-PL" dirty="0" err="1"/>
              <a:t>created</a:t>
            </a:r>
            <a:r>
              <a:rPr lang="pl-PL" dirty="0"/>
              <a:t> </a:t>
            </a:r>
            <a:r>
              <a:rPr lang="pl-PL" dirty="0" err="1"/>
              <a:t>noise</a:t>
            </a:r>
            <a:r>
              <a:rPr lang="pl-PL" dirty="0"/>
              <a:t> </a:t>
            </a:r>
            <a:r>
              <a:rPr lang="pl-PL" dirty="0" err="1"/>
              <a:t>level</a:t>
            </a:r>
            <a:r>
              <a:rPr lang="pl-PL" dirty="0"/>
              <a:t> map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98BECB4-F710-22B7-8F85-71A1FB096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828" y="1868177"/>
            <a:ext cx="3973908" cy="1400802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3910B1AC-A815-6CDA-BCEA-758EF144D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828" y="3589021"/>
            <a:ext cx="3973908" cy="9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75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45570F-54CE-C012-D919-4F914702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pl-PL" dirty="0"/>
              <a:t>Noise2Void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7A6A680-EC7C-1A99-7B10-7644E9A1C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33575"/>
            <a:ext cx="4401509" cy="4246562"/>
          </a:xfrm>
        </p:spPr>
        <p:txBody>
          <a:bodyPr>
            <a:normAutofit/>
          </a:bodyPr>
          <a:lstStyle/>
          <a:p>
            <a:r>
              <a:rPr lang="pl-PL" dirty="0"/>
              <a:t>Model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trained</a:t>
            </a:r>
            <a:r>
              <a:rPr lang="pl-PL" dirty="0"/>
              <a:t> </a:t>
            </a:r>
            <a:r>
              <a:rPr lang="pl-PL" dirty="0" err="1"/>
              <a:t>using</a:t>
            </a:r>
            <a:r>
              <a:rPr lang="pl-PL" dirty="0"/>
              <a:t> </a:t>
            </a:r>
            <a:r>
              <a:rPr lang="pl-PL" dirty="0" err="1"/>
              <a:t>only</a:t>
            </a:r>
            <a:r>
              <a:rPr lang="pl-PL" dirty="0"/>
              <a:t> </a:t>
            </a:r>
            <a:r>
              <a:rPr lang="pl-PL" dirty="0" err="1"/>
              <a:t>noised</a:t>
            </a:r>
            <a:r>
              <a:rPr lang="pl-PL" dirty="0"/>
              <a:t> </a:t>
            </a:r>
            <a:r>
              <a:rPr lang="pl-PL" dirty="0" err="1"/>
              <a:t>images</a:t>
            </a:r>
            <a:endParaRPr lang="pl-PL" dirty="0"/>
          </a:p>
          <a:p>
            <a:r>
              <a:rPr lang="pl-PL" dirty="0" err="1"/>
              <a:t>Uses</a:t>
            </a:r>
            <a:r>
              <a:rPr lang="pl-PL" dirty="0"/>
              <a:t> blind-spot network – The </a:t>
            </a:r>
            <a:r>
              <a:rPr lang="pl-PL" dirty="0" err="1"/>
              <a:t>pixel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currently</a:t>
            </a:r>
            <a:r>
              <a:rPr lang="pl-PL" dirty="0"/>
              <a:t> </a:t>
            </a:r>
            <a:r>
              <a:rPr lang="pl-PL" dirty="0" err="1"/>
              <a:t>predicted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masked</a:t>
            </a:r>
            <a:r>
              <a:rPr lang="pl-PL" dirty="0"/>
              <a:t>.</a:t>
            </a:r>
          </a:p>
          <a:p>
            <a:pPr lvl="1"/>
            <a:r>
              <a:rPr lang="pl-PL" dirty="0" err="1"/>
              <a:t>Only</a:t>
            </a:r>
            <a:r>
              <a:rPr lang="pl-PL" dirty="0"/>
              <a:t> </a:t>
            </a:r>
            <a:r>
              <a:rPr lang="pl-PL" dirty="0" err="1"/>
              <a:t>masked</a:t>
            </a:r>
            <a:r>
              <a:rPr lang="pl-PL" dirty="0"/>
              <a:t> </a:t>
            </a:r>
            <a:r>
              <a:rPr lang="pl-PL" dirty="0" err="1"/>
              <a:t>pixels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targets</a:t>
            </a:r>
            <a:r>
              <a:rPr lang="pl-PL" dirty="0"/>
              <a:t> (</a:t>
            </a:r>
            <a:r>
              <a:rPr lang="pl-PL" dirty="0" err="1"/>
              <a:t>loss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calculated</a:t>
            </a:r>
            <a:r>
              <a:rPr lang="pl-PL" dirty="0"/>
              <a:t> </a:t>
            </a:r>
            <a:r>
              <a:rPr lang="pl-PL" dirty="0" err="1"/>
              <a:t>only</a:t>
            </a:r>
            <a:r>
              <a:rPr lang="pl-PL" dirty="0"/>
              <a:t> on </a:t>
            </a:r>
            <a:r>
              <a:rPr lang="pl-PL" dirty="0" err="1"/>
              <a:t>masked</a:t>
            </a:r>
            <a:r>
              <a:rPr lang="pl-PL" dirty="0"/>
              <a:t> </a:t>
            </a:r>
            <a:r>
              <a:rPr lang="pl-PL" dirty="0" err="1"/>
              <a:t>pixels</a:t>
            </a:r>
            <a:r>
              <a:rPr lang="pl-PL" dirty="0"/>
              <a:t>)</a:t>
            </a:r>
          </a:p>
          <a:p>
            <a:r>
              <a:rPr lang="pl-PL" dirty="0"/>
              <a:t>Model </a:t>
            </a:r>
            <a:r>
              <a:rPr lang="pl-PL" dirty="0" err="1"/>
              <a:t>learns</a:t>
            </a:r>
            <a:r>
              <a:rPr lang="pl-PL" dirty="0"/>
              <a:t> </a:t>
            </a:r>
            <a:r>
              <a:rPr lang="pl-PL" dirty="0" err="1"/>
              <a:t>how</a:t>
            </a:r>
            <a:r>
              <a:rPr lang="pl-PL" dirty="0"/>
              <a:t> to </a:t>
            </a:r>
            <a:r>
              <a:rPr lang="pl-PL" dirty="0" err="1"/>
              <a:t>predict</a:t>
            </a:r>
            <a:r>
              <a:rPr lang="pl-PL" dirty="0"/>
              <a:t> the </a:t>
            </a:r>
            <a:r>
              <a:rPr lang="pl-PL" dirty="0" err="1"/>
              <a:t>clean</a:t>
            </a:r>
            <a:r>
              <a:rPr lang="pl-PL" dirty="0"/>
              <a:t> image based on </a:t>
            </a:r>
            <a:r>
              <a:rPr lang="pl-PL" dirty="0" err="1"/>
              <a:t>context</a:t>
            </a:r>
            <a:r>
              <a:rPr lang="pl-PL" dirty="0"/>
              <a:t> (</a:t>
            </a:r>
            <a:r>
              <a:rPr lang="pl-PL" dirty="0" err="1"/>
              <a:t>neighbour</a:t>
            </a:r>
            <a:r>
              <a:rPr lang="pl-PL" dirty="0"/>
              <a:t> </a:t>
            </a:r>
            <a:r>
              <a:rPr lang="pl-PL" dirty="0" err="1"/>
              <a:t>pixels</a:t>
            </a:r>
            <a:r>
              <a:rPr lang="pl-PL" dirty="0"/>
              <a:t>). </a:t>
            </a:r>
            <a:r>
              <a:rPr lang="pl-PL" dirty="0" err="1"/>
              <a:t>Masked</a:t>
            </a:r>
            <a:r>
              <a:rPr lang="pl-PL" dirty="0"/>
              <a:t> </a:t>
            </a:r>
            <a:r>
              <a:rPr lang="pl-PL" dirty="0" err="1"/>
              <a:t>pixel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not </a:t>
            </a:r>
            <a:r>
              <a:rPr lang="pl-PL" dirty="0" err="1"/>
              <a:t>visable</a:t>
            </a:r>
            <a:r>
              <a:rPr lang="pl-PL" dirty="0"/>
              <a:t> for model.</a:t>
            </a:r>
          </a:p>
          <a:p>
            <a:r>
              <a:rPr lang="pl-PL" dirty="0" err="1"/>
              <a:t>Used</a:t>
            </a:r>
            <a:r>
              <a:rPr lang="pl-PL" dirty="0"/>
              <a:t> in </a:t>
            </a:r>
            <a:r>
              <a:rPr lang="pl-PL" dirty="0" err="1"/>
              <a:t>situations</a:t>
            </a:r>
            <a:r>
              <a:rPr lang="pl-PL" dirty="0"/>
              <a:t> </a:t>
            </a:r>
            <a:r>
              <a:rPr lang="pl-PL" dirty="0" err="1"/>
              <a:t>where</a:t>
            </a:r>
            <a:r>
              <a:rPr lang="pl-PL" dirty="0"/>
              <a:t> </a:t>
            </a:r>
            <a:r>
              <a:rPr lang="pl-PL" dirty="0" err="1"/>
              <a:t>there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no </a:t>
            </a:r>
            <a:r>
              <a:rPr lang="pl-PL" dirty="0" err="1"/>
              <a:t>possible</a:t>
            </a:r>
            <a:r>
              <a:rPr lang="pl-PL" dirty="0"/>
              <a:t> to </a:t>
            </a:r>
            <a:r>
              <a:rPr lang="pl-PL" dirty="0" err="1"/>
              <a:t>have</a:t>
            </a:r>
            <a:r>
              <a:rPr lang="pl-PL" dirty="0"/>
              <a:t> </a:t>
            </a:r>
            <a:r>
              <a:rPr lang="pl-PL" dirty="0" err="1"/>
              <a:t>noisy-clean</a:t>
            </a:r>
            <a:r>
              <a:rPr lang="pl-PL" dirty="0"/>
              <a:t> image </a:t>
            </a:r>
            <a:r>
              <a:rPr lang="pl-PL" dirty="0" err="1"/>
              <a:t>pairs</a:t>
            </a: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BBFFCCC-5019-4A70-C36B-2679342C2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389443"/>
            <a:ext cx="4807287" cy="272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793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7FC7AA4-78A8-D355-B7E6-C4C14AE62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640081"/>
            <a:ext cx="4954920" cy="1606948"/>
          </a:xfrm>
        </p:spPr>
        <p:txBody>
          <a:bodyPr>
            <a:normAutofit/>
          </a:bodyPr>
          <a:lstStyle/>
          <a:p>
            <a:r>
              <a:rPr lang="pl-PL"/>
              <a:t>Noise2Void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4189115-BBA6-AA50-3278-3495EADD9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560106"/>
            <a:ext cx="4954920" cy="3724805"/>
          </a:xfrm>
        </p:spPr>
        <p:txBody>
          <a:bodyPr>
            <a:normAutofit/>
          </a:bodyPr>
          <a:lstStyle/>
          <a:p>
            <a:r>
              <a:rPr lang="pl-PL" b="1" dirty="0"/>
              <a:t>PROS</a:t>
            </a:r>
          </a:p>
          <a:p>
            <a:pPr lvl="1"/>
            <a:r>
              <a:rPr lang="pl-PL" dirty="0"/>
              <a:t>No </a:t>
            </a:r>
            <a:r>
              <a:rPr lang="pl-PL" dirty="0" err="1"/>
              <a:t>need</a:t>
            </a:r>
            <a:r>
              <a:rPr lang="pl-PL" dirty="0"/>
              <a:t> for </a:t>
            </a:r>
            <a:r>
              <a:rPr lang="pl-PL" dirty="0" err="1"/>
              <a:t>clean</a:t>
            </a:r>
            <a:r>
              <a:rPr lang="pl-PL" dirty="0"/>
              <a:t> target </a:t>
            </a:r>
            <a:r>
              <a:rPr lang="pl-PL" dirty="0" err="1"/>
              <a:t>images</a:t>
            </a:r>
            <a:r>
              <a:rPr lang="pl-PL" dirty="0"/>
              <a:t> (!)</a:t>
            </a:r>
          </a:p>
          <a:p>
            <a:pPr lvl="1"/>
            <a:r>
              <a:rPr lang="pl-PL" dirty="0"/>
              <a:t>Great for </a:t>
            </a:r>
            <a:r>
              <a:rPr lang="pl-PL" dirty="0" err="1"/>
              <a:t>different</a:t>
            </a:r>
            <a:r>
              <a:rPr lang="pl-PL" dirty="0"/>
              <a:t> </a:t>
            </a:r>
            <a:r>
              <a:rPr lang="pl-PL" dirty="0" err="1"/>
              <a:t>types</a:t>
            </a:r>
            <a:r>
              <a:rPr lang="pl-PL" dirty="0"/>
              <a:t> of </a:t>
            </a:r>
            <a:r>
              <a:rPr lang="pl-PL" dirty="0" err="1"/>
              <a:t>noise</a:t>
            </a:r>
            <a:endParaRPr lang="pl-PL" dirty="0"/>
          </a:p>
          <a:p>
            <a:r>
              <a:rPr lang="pl-PL" b="1" dirty="0"/>
              <a:t>CONS</a:t>
            </a:r>
          </a:p>
          <a:p>
            <a:pPr lvl="1"/>
            <a:r>
              <a:rPr lang="pl-PL" dirty="0"/>
              <a:t>Lower </a:t>
            </a:r>
            <a:r>
              <a:rPr lang="pl-PL" dirty="0" err="1"/>
              <a:t>accuracy</a:t>
            </a:r>
            <a:r>
              <a:rPr lang="pl-PL" dirty="0"/>
              <a:t> </a:t>
            </a:r>
            <a:r>
              <a:rPr lang="pl-PL" dirty="0" err="1"/>
              <a:t>than</a:t>
            </a:r>
            <a:r>
              <a:rPr lang="pl-PL" dirty="0"/>
              <a:t> </a:t>
            </a:r>
            <a:r>
              <a:rPr lang="pl-PL" dirty="0" err="1"/>
              <a:t>DnCNN</a:t>
            </a:r>
            <a:r>
              <a:rPr lang="pl-PL" dirty="0"/>
              <a:t> and </a:t>
            </a:r>
            <a:r>
              <a:rPr lang="pl-PL" dirty="0" err="1"/>
              <a:t>FFDNet</a:t>
            </a:r>
            <a:endParaRPr lang="pl-PL" dirty="0"/>
          </a:p>
          <a:p>
            <a:pPr lvl="1"/>
            <a:r>
              <a:rPr lang="pl-PL" dirty="0" err="1"/>
              <a:t>Does</a:t>
            </a:r>
            <a:r>
              <a:rPr lang="pl-PL" dirty="0"/>
              <a:t> not </a:t>
            </a:r>
            <a:r>
              <a:rPr lang="pl-PL" dirty="0" err="1"/>
              <a:t>work</a:t>
            </a:r>
            <a:r>
              <a:rPr lang="pl-PL" dirty="0"/>
              <a:t> </a:t>
            </a:r>
            <a:r>
              <a:rPr lang="pl-PL" dirty="0" err="1"/>
              <a:t>well</a:t>
            </a:r>
            <a:r>
              <a:rPr lang="pl-PL" dirty="0"/>
              <a:t> with </a:t>
            </a:r>
            <a:r>
              <a:rPr lang="pl-PL" dirty="0" err="1"/>
              <a:t>structured</a:t>
            </a:r>
            <a:r>
              <a:rPr lang="pl-PL" dirty="0"/>
              <a:t> </a:t>
            </a:r>
            <a:r>
              <a:rPr lang="pl-PL" dirty="0" err="1"/>
              <a:t>noise</a:t>
            </a:r>
            <a:endParaRPr lang="pl-PL" dirty="0"/>
          </a:p>
          <a:p>
            <a:pPr marL="274320" lvl="1" indent="0">
              <a:buNone/>
            </a:pPr>
            <a:endParaRPr lang="pl-PL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B41D4A89-5E35-13C0-69F9-2B3782093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680" y="640081"/>
            <a:ext cx="3742204" cy="2628899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96732F99-DD8F-2B06-DDF5-BF81E1B27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569" y="3589021"/>
            <a:ext cx="3938425" cy="262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997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48432E-43E1-F07F-04F7-3EC60F53E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Research</a:t>
            </a:r>
            <a:r>
              <a:rPr lang="pl-PL" dirty="0"/>
              <a:t> </a:t>
            </a:r>
            <a:r>
              <a:rPr lang="pl-PL" dirty="0" err="1"/>
              <a:t>Papers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39029F2-D048-2443-8EFE-F1A5E2E5E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Beyond a Gaussian Denoiser: Residual Learning of Deep CNN for Image Denoising</a:t>
            </a:r>
            <a:r>
              <a:rPr lang="pl-PL" dirty="0">
                <a:hlinkClick r:id="rId2"/>
              </a:rPr>
              <a:t> </a:t>
            </a:r>
            <a:endParaRPr lang="en-US" dirty="0"/>
          </a:p>
          <a:p>
            <a:r>
              <a:rPr lang="en-US" dirty="0">
                <a:hlinkClick r:id="rId3"/>
              </a:rPr>
              <a:t>Noise2Void - Learning Denoising From Single Noisy Images</a:t>
            </a:r>
            <a:endParaRPr lang="en-US" dirty="0"/>
          </a:p>
          <a:p>
            <a:r>
              <a:rPr lang="en-US" dirty="0" err="1">
                <a:hlinkClick r:id="rId4"/>
              </a:rPr>
              <a:t>FFDNet</a:t>
            </a:r>
            <a:r>
              <a:rPr lang="en-US" dirty="0">
                <a:hlinkClick r:id="rId4"/>
              </a:rPr>
              <a:t>: Toward a Fast and Flexible Solution for CNN based Image </a:t>
            </a:r>
            <a:r>
              <a:rPr lang="en-US" dirty="0" err="1">
                <a:hlinkClick r:id="rId4"/>
              </a:rPr>
              <a:t>Denoisin</a:t>
            </a:r>
            <a:r>
              <a:rPr lang="pl-PL" dirty="0">
                <a:hlinkClick r:id="rId4"/>
              </a:rPr>
              <a:t>g</a:t>
            </a:r>
            <a:endParaRPr lang="en-US" dirty="0"/>
          </a:p>
          <a:p>
            <a:r>
              <a:rPr lang="en-US" dirty="0">
                <a:hlinkClick r:id="rId5"/>
              </a:rPr>
              <a:t>A Residual Dense U-Net Neural Network for Image Denoising</a:t>
            </a:r>
            <a:endParaRPr lang="en-US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01967268"/>
      </p:ext>
    </p:extLst>
  </p:cSld>
  <p:clrMapOvr>
    <a:masterClrMapping/>
  </p:clrMapOvr>
</p:sld>
</file>

<file path=ppt/theme/theme1.xml><?xml version="1.0" encoding="utf-8"?>
<a:theme xmlns:a="http://schemas.openxmlformats.org/drawingml/2006/main" name="Widok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293e784-8065-41d7-9296-e8f8340afff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782CA4C1B67F740BCB581B5111674B3" ma:contentTypeVersion="9" ma:contentTypeDescription="Utwórz nowy dokument." ma:contentTypeScope="" ma:versionID="49a136814a34f3af914d564cabf0351b">
  <xsd:schema xmlns:xsd="http://www.w3.org/2001/XMLSchema" xmlns:xs="http://www.w3.org/2001/XMLSchema" xmlns:p="http://schemas.microsoft.com/office/2006/metadata/properties" xmlns:ns3="0293e784-8065-41d7-9296-e8f8340afff2" xmlns:ns4="4a8ad8c9-ef58-49e3-bf6d-2cf11a0494fe" targetNamespace="http://schemas.microsoft.com/office/2006/metadata/properties" ma:root="true" ma:fieldsID="b30b6d3dd4d5f78b7c289204f510ad9e" ns3:_="" ns4:_="">
    <xsd:import namespace="0293e784-8065-41d7-9296-e8f8340afff2"/>
    <xsd:import namespace="4a8ad8c9-ef58-49e3-bf6d-2cf11a0494f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93e784-8065-41d7-9296-e8f8340aff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8ad8c9-ef58-49e3-bf6d-2cf11a0494f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krót wskazówki dotyczącej udostępniani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B46F4D-8B04-4D5D-B0CC-A6EDB03C1DDC}">
  <ds:schemaRefs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0293e784-8065-41d7-9296-e8f8340afff2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4a8ad8c9-ef58-49e3-bf6d-2cf11a0494fe"/>
  </ds:schemaRefs>
</ds:datastoreItem>
</file>

<file path=customXml/itemProps2.xml><?xml version="1.0" encoding="utf-8"?>
<ds:datastoreItem xmlns:ds="http://schemas.openxmlformats.org/officeDocument/2006/customXml" ds:itemID="{0438D624-B993-4C5C-9117-18EDC24E6D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DBE55A-BCD3-4975-A66D-767C0BF76A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93e784-8065-41d7-9296-e8f8340afff2"/>
    <ds:schemaRef ds:uri="4a8ad8c9-ef58-49e3-bf6d-2cf11a0494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TM03457515[[fn=Widok]]</Template>
  <TotalTime>175</TotalTime>
  <Words>452</Words>
  <Application>Microsoft Office PowerPoint</Application>
  <PresentationFormat>Panoramiczny</PresentationFormat>
  <Paragraphs>60</Paragraphs>
  <Slides>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4" baseType="lpstr">
      <vt:lpstr>Arial</vt:lpstr>
      <vt:lpstr>Cambria Math</vt:lpstr>
      <vt:lpstr>Century Schoolbook</vt:lpstr>
      <vt:lpstr>Wingdings 2</vt:lpstr>
      <vt:lpstr>Widok</vt:lpstr>
      <vt:lpstr>Computational Intelligence</vt:lpstr>
      <vt:lpstr>Image Denoiser</vt:lpstr>
      <vt:lpstr>DnCNN</vt:lpstr>
      <vt:lpstr>DnCNN</vt:lpstr>
      <vt:lpstr>FFDNet</vt:lpstr>
      <vt:lpstr>FFDNet</vt:lpstr>
      <vt:lpstr>Noise2Void</vt:lpstr>
      <vt:lpstr>Noise2Void</vt:lpstr>
      <vt:lpstr>Research Papers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Jabłoński</dc:creator>
  <cp:lastModifiedBy>Jakub Jabłoński</cp:lastModifiedBy>
  <cp:revision>1</cp:revision>
  <dcterms:created xsi:type="dcterms:W3CDTF">2025-10-25T16:44:04Z</dcterms:created>
  <dcterms:modified xsi:type="dcterms:W3CDTF">2025-10-25T19:39:58Z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0x0101007782CA4C1B67F740BCB581B5111674B3</vt:lpwstr>
  </property>
</Properties>
</file>