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1662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95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655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243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8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448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970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391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096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208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866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F5EA6AB-E575-403B-8308-D3AEA7C49615}" type="datetimeFigureOut">
              <a:rPr lang="pl-PL" smtClean="0"/>
              <a:t>25.11.2025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1F452EF-A02E-44FB-B41B-CE3860DC80D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130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0820EE-CDDD-81D5-4D6C-8C228DC45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Computational</a:t>
            </a:r>
            <a:r>
              <a:rPr lang="pl-PL" dirty="0"/>
              <a:t> </a:t>
            </a:r>
            <a:r>
              <a:rPr lang="pl-PL" dirty="0" err="1"/>
              <a:t>Intelligence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29B023-80DD-174C-96C5-C9E8DBDB14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class: #3</a:t>
            </a:r>
            <a:r>
              <a:rPr lang="pl-PL" dirty="0"/>
              <a:t>4</a:t>
            </a:r>
            <a:br>
              <a:rPr lang="en-US" dirty="0"/>
            </a:br>
            <a:r>
              <a:rPr lang="en-US" dirty="0"/>
              <a:t>Author: Jakub Jabłoński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11392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C9793C-761C-1E6F-2B58-C07DBC24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pl-PL" dirty="0" err="1"/>
              <a:t>dnCNN</a:t>
            </a:r>
            <a:endParaRPr lang="pl-PL" dirty="0"/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5B8F39B7-7757-F7F1-E66D-DD2A642C9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4401509" cy="4246562"/>
          </a:xfrm>
        </p:spPr>
        <p:txBody>
          <a:bodyPr>
            <a:normAutofit/>
          </a:bodyPr>
          <a:lstStyle/>
          <a:p>
            <a:r>
              <a:rPr lang="pl-PL" sz="1300" dirty="0"/>
              <a:t>Model was </a:t>
            </a:r>
            <a:r>
              <a:rPr lang="pl-PL" sz="1300" dirty="0" err="1"/>
              <a:t>trained</a:t>
            </a:r>
            <a:r>
              <a:rPr lang="pl-PL" sz="1300" dirty="0"/>
              <a:t> on </a:t>
            </a:r>
            <a:r>
              <a:rPr lang="pl-PL" sz="1300" dirty="0" err="1"/>
              <a:t>grayscale</a:t>
            </a:r>
            <a:r>
              <a:rPr lang="pl-PL" sz="1300" dirty="0"/>
              <a:t> </a:t>
            </a:r>
            <a:r>
              <a:rPr lang="pl-PL" sz="1300" dirty="0" err="1"/>
              <a:t>images</a:t>
            </a:r>
            <a:r>
              <a:rPr lang="pl-PL" sz="1300" dirty="0"/>
              <a:t>.</a:t>
            </a:r>
          </a:p>
          <a:p>
            <a:r>
              <a:rPr lang="pl-PL" sz="1300" dirty="0" err="1"/>
              <a:t>Noise</a:t>
            </a:r>
            <a:r>
              <a:rPr lang="pl-PL" sz="1300" dirty="0"/>
              <a:t> model: AWGN (</a:t>
            </a:r>
            <a:r>
              <a:rPr lang="pl-PL" sz="1300" dirty="0" err="1"/>
              <a:t>Additive</a:t>
            </a:r>
            <a:r>
              <a:rPr lang="pl-PL" sz="1300" dirty="0"/>
              <a:t> White </a:t>
            </a:r>
            <a:r>
              <a:rPr lang="pl-PL" sz="1300" dirty="0" err="1"/>
              <a:t>Gaussian</a:t>
            </a:r>
            <a:r>
              <a:rPr lang="pl-PL" sz="1300" dirty="0"/>
              <a:t> </a:t>
            </a:r>
            <a:r>
              <a:rPr lang="pl-PL" sz="1300" dirty="0" err="1"/>
              <a:t>Noise</a:t>
            </a:r>
            <a:r>
              <a:rPr lang="pl-PL" sz="1300" dirty="0"/>
              <a:t>), with </a:t>
            </a:r>
            <a:r>
              <a:rPr lang="pl-PL" sz="1300" dirty="0" err="1"/>
              <a:t>fixed</a:t>
            </a:r>
            <a:r>
              <a:rPr lang="pl-PL" sz="1300" dirty="0"/>
              <a:t> </a:t>
            </a:r>
            <a:r>
              <a:rPr lang="el-GR" sz="1300" dirty="0"/>
              <a:t>σ</a:t>
            </a:r>
            <a:r>
              <a:rPr lang="pl-PL" sz="1300" dirty="0"/>
              <a:t> = 25,</a:t>
            </a:r>
          </a:p>
          <a:p>
            <a:r>
              <a:rPr lang="pl-PL" sz="1300" dirty="0" err="1"/>
              <a:t>Images</a:t>
            </a:r>
            <a:r>
              <a:rPr lang="pl-PL" sz="1300" dirty="0"/>
              <a:t> </a:t>
            </a:r>
            <a:r>
              <a:rPr lang="pl-PL" sz="1300" dirty="0" err="1"/>
              <a:t>were</a:t>
            </a:r>
            <a:r>
              <a:rPr lang="pl-PL" sz="1300" dirty="0"/>
              <a:t> </a:t>
            </a:r>
            <a:r>
              <a:rPr lang="pl-PL" sz="1300" dirty="0" err="1"/>
              <a:t>divided</a:t>
            </a:r>
            <a:r>
              <a:rPr lang="pl-PL" sz="1300" dirty="0"/>
              <a:t> </a:t>
            </a:r>
            <a:r>
              <a:rPr lang="pl-PL" sz="1300" dirty="0" err="1"/>
              <a:t>into</a:t>
            </a:r>
            <a:r>
              <a:rPr lang="pl-PL" sz="1300" dirty="0"/>
              <a:t> </a:t>
            </a:r>
            <a:r>
              <a:rPr lang="pl-PL" sz="1300" dirty="0" err="1"/>
              <a:t>smaller</a:t>
            </a:r>
            <a:r>
              <a:rPr lang="pl-PL" sz="1300" dirty="0"/>
              <a:t> </a:t>
            </a:r>
            <a:r>
              <a:rPr lang="pl-PL" sz="1300" dirty="0" err="1"/>
              <a:t>patches</a:t>
            </a:r>
            <a:r>
              <a:rPr lang="pl-PL" sz="1300" dirty="0"/>
              <a:t> (43x43) to </a:t>
            </a:r>
            <a:r>
              <a:rPr lang="pl-PL" sz="1300" dirty="0" err="1"/>
              <a:t>increase</a:t>
            </a:r>
            <a:r>
              <a:rPr lang="pl-PL" sz="1300" dirty="0"/>
              <a:t> </a:t>
            </a:r>
            <a:r>
              <a:rPr lang="pl-PL" sz="1300" dirty="0" err="1"/>
              <a:t>dataset</a:t>
            </a:r>
            <a:r>
              <a:rPr lang="pl-PL" sz="1300" dirty="0"/>
              <a:t> </a:t>
            </a:r>
            <a:r>
              <a:rPr lang="pl-PL" sz="1300" dirty="0" err="1"/>
              <a:t>size</a:t>
            </a:r>
            <a:endParaRPr lang="pl-PL" sz="1300" dirty="0"/>
          </a:p>
          <a:p>
            <a:r>
              <a:rPr lang="pl-PL" sz="1300" dirty="0"/>
              <a:t>Network </a:t>
            </a:r>
            <a:r>
              <a:rPr lang="pl-PL" sz="1300" dirty="0" err="1"/>
              <a:t>predicts</a:t>
            </a:r>
            <a:r>
              <a:rPr lang="pl-PL" sz="1300" dirty="0"/>
              <a:t> </a:t>
            </a:r>
            <a:r>
              <a:rPr lang="pl-PL" sz="1300" dirty="0" err="1"/>
              <a:t>noise</a:t>
            </a:r>
            <a:r>
              <a:rPr lang="pl-PL" sz="1300" dirty="0"/>
              <a:t> (</a:t>
            </a:r>
            <a:r>
              <a:rPr lang="pl-PL" sz="1300" dirty="0" err="1"/>
              <a:t>residual</a:t>
            </a:r>
            <a:r>
              <a:rPr lang="pl-PL" sz="1300" dirty="0"/>
              <a:t> learning)</a:t>
            </a:r>
          </a:p>
          <a:p>
            <a:r>
              <a:rPr lang="pl-PL" sz="1300" dirty="0" err="1"/>
              <a:t>Parameters</a:t>
            </a:r>
            <a:r>
              <a:rPr lang="pl-PL" sz="1300" dirty="0"/>
              <a:t>:</a:t>
            </a:r>
          </a:p>
          <a:p>
            <a:pPr lvl="1"/>
            <a:r>
              <a:rPr lang="pl-PL" sz="1300" dirty="0" err="1"/>
              <a:t>Batch</a:t>
            </a:r>
            <a:r>
              <a:rPr lang="pl-PL" sz="1300" dirty="0"/>
              <a:t> </a:t>
            </a:r>
            <a:r>
              <a:rPr lang="pl-PL" sz="1300" dirty="0" err="1"/>
              <a:t>size</a:t>
            </a:r>
            <a:r>
              <a:rPr lang="pl-PL" sz="1300" dirty="0"/>
              <a:t> = 32</a:t>
            </a:r>
          </a:p>
          <a:p>
            <a:pPr lvl="1"/>
            <a:r>
              <a:rPr lang="pl-PL" sz="1300" dirty="0"/>
              <a:t>CNN </a:t>
            </a:r>
            <a:r>
              <a:rPr lang="pl-PL" sz="1300" dirty="0" err="1"/>
              <a:t>depth</a:t>
            </a:r>
            <a:r>
              <a:rPr lang="pl-PL" sz="1300" dirty="0"/>
              <a:t> = 17</a:t>
            </a:r>
          </a:p>
          <a:p>
            <a:pPr lvl="1"/>
            <a:r>
              <a:rPr lang="pl-PL" sz="1300" dirty="0" err="1"/>
              <a:t>Kernels</a:t>
            </a:r>
            <a:r>
              <a:rPr lang="pl-PL" sz="1300" dirty="0"/>
              <a:t> 3x3</a:t>
            </a:r>
          </a:p>
          <a:p>
            <a:pPr lvl="1"/>
            <a:r>
              <a:rPr lang="pl-PL" sz="1300" dirty="0" err="1"/>
              <a:t>Receptive</a:t>
            </a:r>
            <a:r>
              <a:rPr lang="pl-PL" sz="1300" dirty="0"/>
              <a:t> field = </a:t>
            </a:r>
            <a:r>
              <a:rPr lang="pl-PL" sz="1300" dirty="0" err="1"/>
              <a:t>patch_size</a:t>
            </a:r>
            <a:r>
              <a:rPr lang="pl-PL" sz="1300" dirty="0"/>
              <a:t> = 43 </a:t>
            </a:r>
          </a:p>
          <a:p>
            <a:pPr lvl="1"/>
            <a:r>
              <a:rPr lang="pl-PL" sz="1300" dirty="0" err="1"/>
              <a:t>Loss</a:t>
            </a:r>
            <a:r>
              <a:rPr lang="pl-PL" sz="1300" dirty="0"/>
              <a:t> </a:t>
            </a:r>
            <a:r>
              <a:rPr lang="pl-PL" sz="1300" dirty="0" err="1"/>
              <a:t>Function</a:t>
            </a:r>
            <a:r>
              <a:rPr lang="pl-PL" sz="1300" dirty="0"/>
              <a:t> MSE</a:t>
            </a:r>
          </a:p>
          <a:p>
            <a:pPr lvl="1"/>
            <a:r>
              <a:rPr lang="pl-PL" sz="1300" dirty="0" err="1"/>
              <a:t>Optimizer</a:t>
            </a:r>
            <a:r>
              <a:rPr lang="pl-PL" sz="1300" dirty="0"/>
              <a:t> Adam (</a:t>
            </a:r>
            <a:r>
              <a:rPr lang="pl-PL" sz="1300" dirty="0" err="1"/>
              <a:t>lr</a:t>
            </a:r>
            <a:r>
              <a:rPr lang="pl-PL" sz="1300" dirty="0"/>
              <a:t> = 1e-4)</a:t>
            </a:r>
          </a:p>
          <a:p>
            <a:pPr lvl="1"/>
            <a:r>
              <a:rPr lang="pl-PL" sz="1300" dirty="0" err="1"/>
              <a:t>Scheduler</a:t>
            </a:r>
            <a:r>
              <a:rPr lang="pl-PL" sz="1300" dirty="0"/>
              <a:t> </a:t>
            </a:r>
            <a:r>
              <a:rPr lang="pl-PL" sz="1300" dirty="0" err="1"/>
              <a:t>CosineAnnealingLR</a:t>
            </a:r>
            <a:endParaRPr lang="pl-PL" sz="1300" dirty="0"/>
          </a:p>
          <a:p>
            <a:endParaRPr lang="pl-PL" sz="1300" dirty="0"/>
          </a:p>
        </p:txBody>
      </p:sp>
      <p:pic>
        <p:nvPicPr>
          <p:cNvPr id="1028" name="Picture 4" descr="Review: DnCNN — Residual Learning of Deep CNN for Image Denoising  (Denoising &amp; Super Resolution &amp; JPEG Deblocking) | by Sik-Ho Tsang | Medium">
            <a:extLst>
              <a:ext uri="{FF2B5EF4-FFF2-40B4-BE49-F238E27FC236}">
                <a16:creationId xmlns:a16="http://schemas.microsoft.com/office/drawing/2014/main" id="{871F77E5-1C1A-19B4-4A1A-9255C043B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254755"/>
            <a:ext cx="4807287" cy="99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98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3791-7788-4F23-C756-E3C89D38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1EF18C-5829-AA72-03FD-C701E4D9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dnCNN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CCA952A-2BE7-8D42-E0FF-1F08938D9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622" y="2246710"/>
            <a:ext cx="10157190" cy="3695700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BA37A281-3309-1FFD-EB41-B8598248518E}"/>
              </a:ext>
            </a:extLst>
          </p:cNvPr>
          <p:cNvSpPr txBox="1"/>
          <p:nvPr/>
        </p:nvSpPr>
        <p:spPr>
          <a:xfrm>
            <a:off x="1261872" y="1784350"/>
            <a:ext cx="859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Results</a:t>
            </a:r>
            <a:r>
              <a:rPr lang="pl-PL" dirty="0"/>
              <a:t> </a:t>
            </a:r>
            <a:r>
              <a:rPr lang="pl-PL" dirty="0" err="1"/>
              <a:t>after</a:t>
            </a:r>
            <a:r>
              <a:rPr lang="pl-PL" dirty="0"/>
              <a:t> 5 </a:t>
            </a:r>
            <a:r>
              <a:rPr lang="pl-PL" dirty="0" err="1"/>
              <a:t>epochs</a:t>
            </a:r>
            <a:r>
              <a:rPr lang="pl-PL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7139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C805A-7399-63CA-4857-1E5ABC93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CEB930-7470-7646-7FC7-E06E95AE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dnCNN</a:t>
            </a:r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780C8F2-9F5D-2FA1-6220-361AFCC39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331E1857-C3EB-E725-A975-7CCA0DCA8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70" y="1828800"/>
            <a:ext cx="9945942" cy="35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9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F616-1797-EB02-1FA3-4C0B7312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71B23D-EE2A-E208-21AB-0027C446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FFDNet</a:t>
            </a:r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F4FD1F3-578A-2E9A-EFB3-A5DD67DC2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Model was </a:t>
            </a:r>
            <a:r>
              <a:rPr lang="pl-PL" dirty="0" err="1"/>
              <a:t>trained</a:t>
            </a:r>
            <a:r>
              <a:rPr lang="pl-PL" dirty="0"/>
              <a:t> on </a:t>
            </a:r>
            <a:r>
              <a:rPr lang="pl-PL" dirty="0" err="1"/>
              <a:t>grayscale</a:t>
            </a:r>
            <a:r>
              <a:rPr lang="pl-PL" dirty="0"/>
              <a:t> </a:t>
            </a:r>
            <a:r>
              <a:rPr lang="pl-PL" dirty="0" err="1"/>
              <a:t>images</a:t>
            </a:r>
            <a:endParaRPr lang="pl-PL" dirty="0"/>
          </a:p>
          <a:p>
            <a:r>
              <a:rPr lang="pl-PL" dirty="0" err="1"/>
              <a:t>Noise</a:t>
            </a:r>
            <a:r>
              <a:rPr lang="pl-PL" dirty="0"/>
              <a:t>:</a:t>
            </a:r>
          </a:p>
          <a:p>
            <a:pPr lvl="1"/>
            <a:r>
              <a:rPr lang="pl-PL" dirty="0"/>
              <a:t>Training </a:t>
            </a:r>
            <a:r>
              <a:rPr lang="pl-PL" dirty="0" err="1"/>
              <a:t>uses</a:t>
            </a:r>
            <a:r>
              <a:rPr lang="pl-PL" dirty="0"/>
              <a:t> </a:t>
            </a:r>
            <a:r>
              <a:rPr lang="pl-PL" dirty="0" err="1"/>
              <a:t>randomly</a:t>
            </a:r>
            <a:r>
              <a:rPr lang="pl-PL" dirty="0"/>
              <a:t> </a:t>
            </a:r>
            <a:r>
              <a:rPr lang="pl-PL" dirty="0" err="1"/>
              <a:t>sampled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pl-PL" dirty="0" err="1"/>
              <a:t>levels</a:t>
            </a:r>
            <a:r>
              <a:rPr lang="pl-PL" dirty="0"/>
              <a:t> </a:t>
            </a:r>
            <a:r>
              <a:rPr lang="el-GR" dirty="0"/>
              <a:t>σ</a:t>
            </a:r>
            <a:r>
              <a:rPr lang="pl-PL" dirty="0"/>
              <a:t> ∈ [0,75],</a:t>
            </a:r>
          </a:p>
          <a:p>
            <a:pPr lvl="1"/>
            <a:r>
              <a:rPr lang="pl-PL" dirty="0" err="1"/>
              <a:t>Validaion</a:t>
            </a:r>
            <a:r>
              <a:rPr lang="pl-PL" dirty="0"/>
              <a:t> and test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fixed</a:t>
            </a:r>
            <a:r>
              <a:rPr lang="pl-PL" dirty="0"/>
              <a:t> </a:t>
            </a:r>
            <a:r>
              <a:rPr lang="el-GR" dirty="0"/>
              <a:t>σ</a:t>
            </a:r>
            <a:r>
              <a:rPr lang="pl-PL" dirty="0"/>
              <a:t> = 25 for </a:t>
            </a:r>
            <a:r>
              <a:rPr lang="pl-PL" dirty="0" err="1"/>
              <a:t>stable</a:t>
            </a:r>
            <a:r>
              <a:rPr lang="pl-PL" dirty="0"/>
              <a:t> monitoring</a:t>
            </a:r>
          </a:p>
          <a:p>
            <a:r>
              <a:rPr lang="pl-PL" dirty="0" err="1"/>
              <a:t>Images</a:t>
            </a:r>
            <a:r>
              <a:rPr lang="pl-PL" dirty="0"/>
              <a:t> </a:t>
            </a:r>
            <a:r>
              <a:rPr lang="pl-PL" dirty="0" err="1"/>
              <a:t>splited</a:t>
            </a:r>
            <a:r>
              <a:rPr lang="pl-PL" dirty="0"/>
              <a:t> </a:t>
            </a:r>
            <a:r>
              <a:rPr lang="pl-PL" dirty="0" err="1"/>
              <a:t>into</a:t>
            </a:r>
            <a:r>
              <a:rPr lang="pl-PL" dirty="0"/>
              <a:t> 64x64 </a:t>
            </a:r>
            <a:r>
              <a:rPr lang="pl-PL" dirty="0" err="1"/>
              <a:t>patches</a:t>
            </a:r>
            <a:endParaRPr lang="pl-PL" dirty="0"/>
          </a:p>
          <a:p>
            <a:r>
              <a:rPr lang="pl-PL" dirty="0"/>
              <a:t>It </a:t>
            </a:r>
            <a:r>
              <a:rPr lang="pl-PL" dirty="0" err="1"/>
              <a:t>uses</a:t>
            </a:r>
            <a:r>
              <a:rPr lang="pl-PL" dirty="0"/>
              <a:t> </a:t>
            </a:r>
            <a:r>
              <a:rPr lang="pl-PL" dirty="0" err="1"/>
              <a:t>dnCNN</a:t>
            </a:r>
            <a:r>
              <a:rPr lang="pl-PL" dirty="0"/>
              <a:t> </a:t>
            </a:r>
            <a:r>
              <a:rPr lang="pl-PL" dirty="0" err="1"/>
              <a:t>underneath</a:t>
            </a:r>
            <a:r>
              <a:rPr lang="pl-PL" dirty="0"/>
              <a:t> with </a:t>
            </a:r>
            <a:r>
              <a:rPr lang="pl-PL" dirty="0" err="1"/>
              <a:t>changed</a:t>
            </a:r>
            <a:r>
              <a:rPr lang="pl-PL" dirty="0"/>
              <a:t> </a:t>
            </a:r>
            <a:r>
              <a:rPr lang="pl-PL" dirty="0" err="1"/>
              <a:t>last</a:t>
            </a:r>
            <a:r>
              <a:rPr lang="pl-PL" dirty="0"/>
              <a:t> </a:t>
            </a:r>
            <a:r>
              <a:rPr lang="pl-PL" dirty="0" err="1"/>
              <a:t>layer</a:t>
            </a:r>
            <a:r>
              <a:rPr lang="pl-PL" dirty="0"/>
              <a:t> to </a:t>
            </a:r>
            <a:r>
              <a:rPr lang="pl-PL" dirty="0" err="1"/>
              <a:t>output</a:t>
            </a:r>
            <a:r>
              <a:rPr lang="pl-PL" dirty="0"/>
              <a:t> 4 channel </a:t>
            </a:r>
            <a:r>
              <a:rPr lang="pl-PL" dirty="0" err="1"/>
              <a:t>noise</a:t>
            </a:r>
            <a:endParaRPr lang="pl-PL" dirty="0"/>
          </a:p>
          <a:p>
            <a:r>
              <a:rPr lang="pl-PL" dirty="0"/>
              <a:t>Input:</a:t>
            </a:r>
          </a:p>
          <a:p>
            <a:pPr lvl="1"/>
            <a:r>
              <a:rPr lang="pl-PL" dirty="0"/>
              <a:t>Input image (C,H,W)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downsampled</a:t>
            </a:r>
            <a:r>
              <a:rPr lang="pl-PL" dirty="0"/>
              <a:t> (C*4, H/2, W/2) </a:t>
            </a:r>
          </a:p>
          <a:p>
            <a:pPr lvl="1"/>
            <a:r>
              <a:rPr lang="pl-PL" dirty="0" err="1"/>
              <a:t>Noise</a:t>
            </a:r>
            <a:r>
              <a:rPr lang="pl-PL" dirty="0"/>
              <a:t> map (matrix </a:t>
            </a:r>
            <a:r>
              <a:rPr lang="pl-PL" dirty="0" err="1"/>
              <a:t>filled</a:t>
            </a:r>
            <a:r>
              <a:rPr lang="pl-PL" dirty="0"/>
              <a:t> with </a:t>
            </a:r>
            <a:r>
              <a:rPr lang="pl-PL" dirty="0" err="1"/>
              <a:t>constant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el-GR" dirty="0"/>
              <a:t>σ</a:t>
            </a:r>
            <a:r>
              <a:rPr lang="pl-PL" dirty="0"/>
              <a:t>), </a:t>
            </a:r>
            <a:r>
              <a:rPr lang="pl-PL" dirty="0" err="1"/>
              <a:t>downsampled</a:t>
            </a:r>
            <a:r>
              <a:rPr lang="pl-PL" dirty="0"/>
              <a:t> to (C, H/2, W/2) </a:t>
            </a:r>
          </a:p>
          <a:p>
            <a:pPr lvl="1"/>
            <a:r>
              <a:rPr lang="pl-PL" dirty="0" err="1"/>
              <a:t>Downsampled</a:t>
            </a:r>
            <a:r>
              <a:rPr lang="pl-PL" dirty="0"/>
              <a:t> Input </a:t>
            </a:r>
            <a:r>
              <a:rPr lang="pl-PL" dirty="0" err="1"/>
              <a:t>images</a:t>
            </a:r>
            <a:r>
              <a:rPr lang="pl-PL" dirty="0"/>
              <a:t> and </a:t>
            </a:r>
            <a:r>
              <a:rPr lang="pl-PL" dirty="0" err="1"/>
              <a:t>noise</a:t>
            </a:r>
            <a:r>
              <a:rPr lang="pl-PL" dirty="0"/>
              <a:t> map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concatenated</a:t>
            </a:r>
            <a:r>
              <a:rPr lang="pl-PL" dirty="0"/>
              <a:t> to (C*4 + 1, H/2, W/2)</a:t>
            </a:r>
          </a:p>
          <a:p>
            <a:r>
              <a:rPr lang="pl-PL" dirty="0" err="1"/>
              <a:t>Output</a:t>
            </a:r>
            <a:r>
              <a:rPr lang="pl-PL" dirty="0"/>
              <a:t> image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upsampled</a:t>
            </a:r>
            <a:endParaRPr lang="pl-PL" dirty="0"/>
          </a:p>
          <a:p>
            <a:endParaRPr lang="pl-PL" dirty="0"/>
          </a:p>
          <a:p>
            <a:endParaRPr lang="pl-PL" dirty="0"/>
          </a:p>
        </p:txBody>
      </p:sp>
      <p:pic>
        <p:nvPicPr>
          <p:cNvPr id="2052" name="Picture 4" descr="The architecture of FFDNet for image denoising. | Download Scientific  Diagram">
            <a:extLst>
              <a:ext uri="{FF2B5EF4-FFF2-40B4-BE49-F238E27FC236}">
                <a16:creationId xmlns:a16="http://schemas.microsoft.com/office/drawing/2014/main" id="{F5FDDBA0-09E2-36E8-9B76-E2563010A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251" y="456590"/>
            <a:ext cx="6193098" cy="114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23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C97-DCDF-4E78-992C-E4929012D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9D898D-3EBA-7E01-E86C-B09CB7D40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FFDNet</a:t>
            </a:r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6AE542F-6914-753E-6389-887B435B0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err="1"/>
              <a:t>Results</a:t>
            </a:r>
            <a:r>
              <a:rPr lang="pl-PL" dirty="0"/>
              <a:t> </a:t>
            </a:r>
            <a:r>
              <a:rPr lang="pl-PL" dirty="0" err="1"/>
              <a:t>after</a:t>
            </a:r>
            <a:r>
              <a:rPr lang="pl-PL" dirty="0"/>
              <a:t> 30 </a:t>
            </a:r>
            <a:r>
              <a:rPr lang="pl-PL" dirty="0" err="1"/>
              <a:t>epochs</a:t>
            </a:r>
            <a:r>
              <a:rPr lang="pl-PL" dirty="0"/>
              <a:t>: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53F37CE-A1D3-B3F2-A180-79DE0BA84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38" y="2156346"/>
            <a:ext cx="9440279" cy="33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6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3D3B-C362-7C0D-420B-EE551F80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3B3825-ED8E-84DA-6A17-54729874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FFDNet</a:t>
            </a:r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B9F3E53-E58C-19BB-50EF-0070137DF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6AD9029-9C5B-4808-7432-DBF705F2B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1" y="1828800"/>
            <a:ext cx="10840872" cy="389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7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8AA4E-3A2E-0B73-1111-21CFD7AF3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B5EF47-CA21-1F37-6069-328F50C2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FFDNet</a:t>
            </a:r>
            <a:endParaRPr lang="pl-PL" dirty="0"/>
          </a:p>
        </p:txBody>
      </p:sp>
      <p:pic>
        <p:nvPicPr>
          <p:cNvPr id="5" name="Symbol zastępczy zawartości 4" descr="Obraz zawierający zrzut ekranu, tekst&#10;&#10;Zawartość wygenerowana przez AI może być niepoprawna.">
            <a:extLst>
              <a:ext uri="{FF2B5EF4-FFF2-40B4-BE49-F238E27FC236}">
                <a16:creationId xmlns:a16="http://schemas.microsoft.com/office/drawing/2014/main" id="{42BBC0D4-892B-AEED-5F0B-8E9F8F3A4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1819686"/>
            <a:ext cx="8594725" cy="2226867"/>
          </a:xfrm>
        </p:spPr>
      </p:pic>
      <p:pic>
        <p:nvPicPr>
          <p:cNvPr id="7" name="Obraz 6" descr="Obraz zawierający zrzut ekranu, tekst&#10;&#10;Zawartość wygenerowana przez AI może być niepoprawna.">
            <a:extLst>
              <a:ext uri="{FF2B5EF4-FFF2-40B4-BE49-F238E27FC236}">
                <a16:creationId xmlns:a16="http://schemas.microsoft.com/office/drawing/2014/main" id="{78B3A95B-EE2A-1C93-C9CE-1B842109E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4281849"/>
            <a:ext cx="8594725" cy="208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7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2322B8-2154-4724-FCF5-BF8C69BD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FFDNet</a:t>
            </a:r>
            <a:endParaRPr lang="pl-PL" dirty="0"/>
          </a:p>
        </p:txBody>
      </p:sp>
      <p:pic>
        <p:nvPicPr>
          <p:cNvPr id="5" name="Symbol zastępczy zawartości 4" descr="Obraz zawierający szkic, tekst, ssak&#10;&#10;Zawartość wygenerowana przez AI może być niepoprawna.">
            <a:extLst>
              <a:ext uri="{FF2B5EF4-FFF2-40B4-BE49-F238E27FC236}">
                <a16:creationId xmlns:a16="http://schemas.microsoft.com/office/drawing/2014/main" id="{6D103EFB-2717-3216-5CF0-45C4C89BA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49"/>
          <a:stretch>
            <a:fillRect/>
          </a:stretch>
        </p:blipFill>
        <p:spPr>
          <a:xfrm>
            <a:off x="2322513" y="2900996"/>
            <a:ext cx="5780087" cy="2956245"/>
          </a:xfr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8000B71-C848-0408-EE9F-AFE0DF0226AE}"/>
              </a:ext>
            </a:extLst>
          </p:cNvPr>
          <p:cNvSpPr txBox="1"/>
          <p:nvPr/>
        </p:nvSpPr>
        <p:spPr>
          <a:xfrm>
            <a:off x="1261872" y="1926827"/>
            <a:ext cx="969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After</a:t>
            </a:r>
            <a:r>
              <a:rPr lang="pl-PL" dirty="0"/>
              <a:t> </a:t>
            </a:r>
            <a:r>
              <a:rPr lang="pl-PL" dirty="0" err="1"/>
              <a:t>training</a:t>
            </a:r>
            <a:r>
              <a:rPr lang="pl-PL" dirty="0"/>
              <a:t> with </a:t>
            </a:r>
            <a:r>
              <a:rPr lang="pl-PL" dirty="0" err="1"/>
              <a:t>fixed</a:t>
            </a:r>
            <a:r>
              <a:rPr lang="pl-PL" dirty="0"/>
              <a:t> </a:t>
            </a:r>
            <a:r>
              <a:rPr lang="pl-PL" dirty="0" err="1"/>
              <a:t>noise</a:t>
            </a:r>
            <a:r>
              <a:rPr lang="pl-PL" dirty="0"/>
              <a:t> </a:t>
            </a:r>
            <a:r>
              <a:rPr lang="el-GR" dirty="0"/>
              <a:t>σ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36044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6B2014-C7E6-0862-318D-9F9C78B0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Comparison</a:t>
            </a:r>
            <a:endParaRPr lang="pl-PL" dirty="0"/>
          </a:p>
        </p:txBody>
      </p:sp>
      <p:pic>
        <p:nvPicPr>
          <p:cNvPr id="5" name="Symbol zastępczy zawartości 4" descr="Obraz zawierający zrzut ekranu, tekst&#10;&#10;Zawartość wygenerowana przez AI może być niepoprawna.">
            <a:extLst>
              <a:ext uri="{FF2B5EF4-FFF2-40B4-BE49-F238E27FC236}">
                <a16:creationId xmlns:a16="http://schemas.microsoft.com/office/drawing/2014/main" id="{B1DA8CF6-C1B8-3B40-B583-C253C78C9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355" y="1828800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2016468676"/>
      </p:ext>
    </p:extLst>
  </p:cSld>
  <p:clrMapOvr>
    <a:masterClrMapping/>
  </p:clrMapOvr>
</p:sld>
</file>

<file path=ppt/theme/theme1.xml><?xml version="1.0" encoding="utf-8"?>
<a:theme xmlns:a="http://schemas.openxmlformats.org/drawingml/2006/main" name="Widok">
  <a:themeElements>
    <a:clrScheme name="Widok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Wid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Widok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TM03457515[[fn=Widok]]</Template>
  <TotalTime>63</TotalTime>
  <Words>238</Words>
  <Application>Microsoft Office PowerPoint</Application>
  <PresentationFormat>Panoramiczny</PresentationFormat>
  <Paragraphs>37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Century Schoolbook</vt:lpstr>
      <vt:lpstr>Wingdings 2</vt:lpstr>
      <vt:lpstr>Widok</vt:lpstr>
      <vt:lpstr>Computational Intelligence</vt:lpstr>
      <vt:lpstr>dnCNN</vt:lpstr>
      <vt:lpstr>dnCNN</vt:lpstr>
      <vt:lpstr>dnCNN</vt:lpstr>
      <vt:lpstr>FFDNet</vt:lpstr>
      <vt:lpstr>FFDNet</vt:lpstr>
      <vt:lpstr>FFDNet</vt:lpstr>
      <vt:lpstr>FFDNet</vt:lpstr>
      <vt:lpstr>FFDNet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Jabłoński</dc:creator>
  <cp:lastModifiedBy>Jakub Jabłoński</cp:lastModifiedBy>
  <cp:revision>2</cp:revision>
  <dcterms:created xsi:type="dcterms:W3CDTF">2025-11-25T06:50:54Z</dcterms:created>
  <dcterms:modified xsi:type="dcterms:W3CDTF">2025-11-25T07:55:24Z</dcterms:modified>
</cp:coreProperties>
</file>